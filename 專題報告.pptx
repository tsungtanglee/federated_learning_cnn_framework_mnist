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96" r:id="rId5"/>
    <p:sldId id="297" r:id="rId6"/>
    <p:sldId id="299" r:id="rId7"/>
    <p:sldId id="298" r:id="rId8"/>
    <p:sldId id="281" r:id="rId9"/>
    <p:sldId id="301" r:id="rId10"/>
    <p:sldId id="302" r:id="rId11"/>
    <p:sldId id="304" r:id="rId12"/>
    <p:sldId id="303" r:id="rId13"/>
    <p:sldId id="305" r:id="rId14"/>
    <p:sldId id="306" r:id="rId15"/>
    <p:sldId id="307" r:id="rId16"/>
    <p:sldId id="290" r:id="rId17"/>
    <p:sldId id="300" r:id="rId18"/>
    <p:sldId id="264" r:id="rId19"/>
    <p:sldId id="274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53A9E-D78A-A747-6606-8F0D45E5058E}" v="1369" dt="2026-07-26T16:36:26.878"/>
    <p1510:client id="{C47EF6E8-31FC-6F86-E13B-F98D9DEFE8F0}" v="173" dt="2026-07-25T16:49:00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403" autoAdjust="0"/>
  </p:normalViewPr>
  <p:slideViewPr>
    <p:cSldViewPr snapToGrid="0">
      <p:cViewPr varScale="1">
        <p:scale>
          <a:sx n="55" d="100"/>
          <a:sy n="55" d="100"/>
        </p:scale>
        <p:origin x="131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D4B6-767F-4B97-9893-34CF7A51D0A4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BFED3-C05A-4316-A16E-F16065C21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0953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33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24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10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290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482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817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9555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378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13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129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108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4DE542D-1DC9-4A19-8E4A-97776E5839ED}" type="datetimeFigureOut">
              <a:rPr lang="zh-TW" altLang="en-US" smtClean="0"/>
              <a:t>2026/7/26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7A4E693-7902-47F4-9381-061E5812B74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0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TsungTangLee/Federated_Learning_CNN_Framework_MNIS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md.io/@sysprog/constant-time-relu" TargetMode="External"/><Relationship Id="rId2" Type="http://schemas.openxmlformats.org/officeDocument/2006/relationships/hyperlink" Target="https://www.datacamp.com/tutorial/introduction-to-deep-neural-network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sherry-ai/%E8%81%AF%E7%9B%9F%E5%BC%8F%E5%AD%B8%E7%BF%92-federated-learning-b4cc5af7a9c0" TargetMode="External"/><Relationship Id="rId4" Type="http://schemas.openxmlformats.org/officeDocument/2006/relationships/hyperlink" Target="https://wenwu53.com/convolutional-neural-network-part1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09957C8-1BD7-6D90-1F43-CF5F77EBA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243695"/>
            <a:ext cx="10058400" cy="4081417"/>
          </a:xfrm>
        </p:spPr>
        <p:txBody>
          <a:bodyPr>
            <a:normAutofit/>
          </a:bodyPr>
          <a:lstStyle/>
          <a:p>
            <a:r>
              <a:rPr lang="zh-TW" altLang="en-US">
                <a:latin typeface="PMingLiU"/>
                <a:ea typeface="PMingLiU"/>
                <a:cs typeface="+mj-lt"/>
              </a:rPr>
              <a:t>聯邦學習手寫數字辨識系統</a:t>
            </a:r>
            <a:br>
              <a:rPr lang="zh-TW" altLang="en-US" dirty="0">
                <a:latin typeface="PMingLiU"/>
                <a:ea typeface="PMingLiU"/>
                <a:cs typeface="+mj-lt"/>
              </a:rPr>
            </a:br>
            <a:r>
              <a:rPr lang="zh-TW" sz="4800" i="1">
                <a:latin typeface="Times New Roman"/>
                <a:ea typeface="+mj-lt"/>
                <a:cs typeface="Times New Roman"/>
              </a:rPr>
              <a:t>(Handwritten Digit Classification Using Federated Learning and CNN)</a:t>
            </a:r>
            <a:endParaRPr lang="zh-TW" altLang="en-US" sz="4800" i="1">
              <a:latin typeface="Times New Roman"/>
              <a:ea typeface="Microsoft JhengHei"/>
              <a:cs typeface="Times New Roman"/>
            </a:endParaRP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B98A87C7-7A29-7F06-6787-02FFB6D4B0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>
                <a:latin typeface="Times New Roman"/>
                <a:ea typeface="標楷體"/>
                <a:cs typeface="Times New Roman"/>
              </a:rPr>
              <a:t>2026/7/27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PMingLiU"/>
                <a:ea typeface="PMingLiU"/>
                <a:cs typeface="Times New Roman" panose="02020603050405020304" pitchFamily="18" charset="0"/>
              </a:rPr>
              <a:t>李宗唐</a:t>
            </a:r>
          </a:p>
        </p:txBody>
      </p:sp>
    </p:spTree>
    <p:extLst>
      <p:ext uri="{BB962C8B-B14F-4D97-AF65-F5344CB8AC3E}">
        <p14:creationId xmlns:p14="http://schemas.microsoft.com/office/powerpoint/2010/main" val="190754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29CA30-A3EE-CCCF-4E9C-51E806E5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/>
                <a:ea typeface="新細明體"/>
                <a:cs typeface="Times New Roman"/>
              </a:rPr>
              <a:t>Outline</a:t>
            </a:r>
            <a:endParaRPr lang="zh-TW" altLang="en-US"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466DB-E960-C748-F63B-2BD852CEE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sz="2200">
                <a:latin typeface="Microsoft JhengHei"/>
                <a:ea typeface="Microsoft JhengHei"/>
                <a:cs typeface="Times New Roman"/>
              </a:rPr>
              <a:t>專題研究動機</a:t>
            </a:r>
            <a:endParaRPr lang="en-US" altLang="zh-TW" sz="2200">
              <a:latin typeface="Microsoft JhengHei"/>
              <a:ea typeface="Microsoft JhengHei"/>
              <a:cs typeface="Times New Roman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 sz="2200">
                <a:latin typeface="Microsoft JhengHei"/>
                <a:ea typeface="Microsoft JhengHei"/>
                <a:cs typeface="Times New Roman"/>
              </a:rPr>
              <a:t>專題介紹</a:t>
            </a:r>
            <a:endParaRPr lang="en-US" altLang="zh-TW" sz="2200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200">
                <a:solidFill>
                  <a:schemeClr val="tx1"/>
                </a:solidFill>
                <a:latin typeface="Microsoft JhengHei"/>
                <a:ea typeface="Microsoft JhengHei"/>
              </a:rPr>
              <a:t>流程圖</a:t>
            </a: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sz="2200" dirty="0" err="1">
                <a:latin typeface="Microsoft JhengHei"/>
                <a:ea typeface="Microsoft JhengHei"/>
                <a:cs typeface="Times New Roman"/>
              </a:rPr>
              <a:t>數字辨識數據集</a:t>
            </a:r>
            <a:r>
              <a:rPr lang="en-US" sz="2200" dirty="0">
                <a:latin typeface="Microsoft JhengHei"/>
                <a:ea typeface="Microsoft JhengHei"/>
                <a:cs typeface="Times New Roman"/>
              </a:rPr>
              <a:t>(MNIST)</a:t>
            </a:r>
            <a:endParaRPr lang="en-US" altLang="zh-TW" sz="2200" dirty="0">
              <a:latin typeface="Microsoft JhengHei"/>
              <a:ea typeface="Microsoft JhengHei"/>
              <a:cs typeface="Times New Roman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 dirty="0" err="1">
                <a:latin typeface="Microsoft JhengHei"/>
                <a:ea typeface="Microsoft JhengHei"/>
                <a:cs typeface="Times New Roman"/>
              </a:rPr>
              <a:t>卷積神經網路</a:t>
            </a:r>
            <a:r>
              <a:rPr lang="en-US" altLang="zh-TW" sz="2200" dirty="0">
                <a:latin typeface="Microsoft JhengHei"/>
                <a:ea typeface="Microsoft JhengHei"/>
                <a:cs typeface="Times New Roman"/>
              </a:rPr>
              <a:t>(CNN)</a:t>
            </a:r>
            <a:endParaRPr lang="en-US" sz="220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 dirty="0" err="1">
                <a:latin typeface="Microsoft JhengHei"/>
                <a:ea typeface="Microsoft JhengHei"/>
                <a:cs typeface="Times New Roman"/>
              </a:rPr>
              <a:t>聯邦學習</a:t>
            </a:r>
            <a:r>
              <a:rPr lang="en-US" altLang="zh-TW" sz="2200" dirty="0">
                <a:latin typeface="Microsoft JhengHei"/>
                <a:ea typeface="Microsoft JhengHei"/>
                <a:cs typeface="Times New Roman"/>
              </a:rPr>
              <a:t>(FL)</a:t>
            </a: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>
                <a:latin typeface="Microsoft JhengHei"/>
                <a:ea typeface="Microsoft JhengHei"/>
                <a:cs typeface="Times New Roman"/>
              </a:rPr>
              <a:t>Performance</a:t>
            </a:r>
            <a:endParaRPr lang="en-US" altLang="zh-TW" sz="2200" dirty="0">
              <a:latin typeface="Microsoft JhengHei"/>
              <a:ea typeface="Microsoft JhengHei"/>
              <a:cs typeface="Times New Roman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sz="2200" dirty="0">
                <a:ea typeface="+mn-lt"/>
                <a:cs typeface="+mn-lt"/>
              </a:rPr>
              <a:t>Centralized vs Federated Learning </a:t>
            </a:r>
            <a:r>
              <a:rPr lang="en-US" sz="2200" dirty="0" err="1">
                <a:ea typeface="+mn-lt"/>
                <a:cs typeface="+mn-lt"/>
              </a:rPr>
              <a:t>整理表格</a:t>
            </a:r>
            <a:r>
              <a:rPr lang="en-US" sz="2200" dirty="0">
                <a:ea typeface="+mn-lt"/>
                <a:cs typeface="+mn-lt"/>
              </a:rPr>
              <a:t> </a:t>
            </a:r>
            <a:endParaRPr lang="en-US" altLang="zh-TW" sz="2200" dirty="0">
              <a:ea typeface="+mn-lt"/>
              <a:cs typeface="+mn-lt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 dirty="0" err="1">
                <a:latin typeface="Microsoft JhengHei"/>
                <a:ea typeface="Microsoft JhengHei"/>
                <a:cs typeface="Times New Roman"/>
              </a:rPr>
              <a:t>心得</a:t>
            </a: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 err="1">
                <a:latin typeface="Microsoft JhengHei"/>
                <a:ea typeface="Microsoft JhengHei"/>
                <a:cs typeface="Times New Roman"/>
              </a:rPr>
              <a:t>Github</a:t>
            </a:r>
            <a:endParaRPr lang="en-US" altLang="zh-TW" sz="2200" dirty="0" err="1">
              <a:latin typeface="Microsoft JhengHei"/>
              <a:ea typeface="Microsoft JhengHei"/>
              <a:cs typeface="Times New Roman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altLang="zh-TW" sz="2200">
                <a:latin typeface="Microsoft JhengHei"/>
                <a:ea typeface="Microsoft JhengHei"/>
                <a:cs typeface="Times New Roman"/>
              </a:rPr>
              <a:t>Reference</a:t>
            </a:r>
            <a:endParaRPr lang="en-US" altLang="zh-TW" sz="2200" dirty="0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347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04F624-6ABD-A91C-BA12-9BE5B4B9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PMingLiU"/>
                <a:ea typeface="PMingLiU"/>
              </a:rPr>
              <a:t>研究動機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C3D3C8-1AE8-5FF9-9AEB-6EBF33083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80419"/>
            <a:ext cx="10058400" cy="4773896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rgbClr val="FF0000"/>
                </a:solidFill>
                <a:latin typeface="Microsoft JhengHei"/>
                <a:ea typeface="Microsoft JhengHei"/>
                <a:cs typeface="Times New Roman" panose="02020603050405020304" pitchFamily="18" charset="0"/>
              </a:rPr>
              <a:t>時代拐點</a:t>
            </a:r>
            <a:endParaRPr lang="en-US" altLang="zh-TW" b="1">
              <a:solidFill>
                <a:srgbClr val="FF0000"/>
              </a:solidFill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>
                <a:latin typeface="Microsoft JhengHei"/>
                <a:ea typeface="Microsoft JhengHei"/>
                <a:cs typeface="Times New Roman"/>
              </a:rPr>
              <a:t>目前我們正處在</a:t>
            </a: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Times New Roman"/>
              </a:rPr>
              <a:t>時代拐點</a:t>
            </a:r>
            <a:r>
              <a:rPr lang="zh-TW" altLang="en-US" sz="2000">
                <a:latin typeface="Microsoft JhengHei"/>
                <a:ea typeface="Microsoft JhengHei"/>
                <a:cs typeface="Times New Roman"/>
              </a:rPr>
              <a:t>，如同上次經歷</a:t>
            </a: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Times New Roman"/>
              </a:rPr>
              <a:t>工業革命</a:t>
            </a:r>
            <a:r>
              <a:rPr lang="zh-TW" altLang="en-US" sz="2000">
                <a:latin typeface="Microsoft JhengHei"/>
                <a:ea typeface="Microsoft JhengHei"/>
                <a:cs typeface="Times New Roman"/>
              </a:rPr>
              <a:t>的人們，現在則是正在</a:t>
            </a:r>
            <a:r>
              <a:rPr lang="zh-TW" altLang="en-US" sz="2000" b="1">
                <a:solidFill>
                  <a:srgbClr val="7030A0"/>
                </a:solidFill>
                <a:latin typeface="Microsoft JhengHei"/>
                <a:ea typeface="Microsoft JhengHei"/>
                <a:cs typeface="Times New Roman"/>
              </a:rPr>
              <a:t>經歷人工智慧準備開始進入蓬勃發展的階段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。</a:t>
            </a:r>
            <a:endParaRPr lang="en-US" altLang="zh-TW" sz="2000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 b="1">
                <a:solidFill>
                  <a:srgbClr val="FF0000"/>
                </a:solidFill>
                <a:latin typeface="Microsoft JhengHei"/>
                <a:ea typeface="Microsoft JhengHei"/>
                <a:cs typeface="Times New Roman"/>
              </a:rPr>
              <a:t>聯邦學習(</a:t>
            </a:r>
            <a:r>
              <a:rPr lang="zh-TW">
                <a:solidFill>
                  <a:srgbClr val="FF0000"/>
                </a:solidFill>
                <a:latin typeface="Microsoft JhengHei"/>
                <a:ea typeface="Microsoft JhengHei"/>
                <a:cs typeface="+mn-lt"/>
              </a:rPr>
              <a:t>Federated Learning</a:t>
            </a:r>
            <a:r>
              <a:rPr lang="zh-TW" altLang="en-US" b="1">
                <a:solidFill>
                  <a:srgbClr val="FF0000"/>
                </a:solidFill>
                <a:latin typeface="Microsoft JhengHei"/>
                <a:ea typeface="Microsoft JhengHei"/>
                <a:cs typeface="Times New Roman"/>
              </a:rPr>
              <a:t>)</a:t>
            </a:r>
            <a:endParaRPr lang="en-US" altLang="zh-TW" b="1">
              <a:solidFill>
                <a:srgbClr val="FF0000"/>
              </a:solidFill>
              <a:latin typeface="Microsoft JhengHei"/>
              <a:ea typeface="Microsoft JhengHei"/>
              <a:cs typeface="Times New Roman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>
                <a:latin typeface="Microsoft JhengHei"/>
                <a:ea typeface="Microsoft JhengHei"/>
                <a:cs typeface="Times New Roman"/>
              </a:rPr>
              <a:t>傳統AI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所有資料集中到同一台Server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，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容易有隱私風險、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很多資料集中</a:t>
            </a:r>
            <a:r>
              <a:rPr lang="zh-TW" altLang="en-US" sz="2000">
                <a:latin typeface="Microsoft JhengHei"/>
                <a:ea typeface="Microsoft JhengHei"/>
                <a:cs typeface="Calibri"/>
              </a:rPr>
              <a:t>起來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的</a:t>
            </a:r>
            <a:r>
              <a:rPr lang="zh-TW" altLang="en-US" sz="2000">
                <a:latin typeface="Microsoft JhengHei"/>
                <a:ea typeface="Microsoft JhengHei"/>
                <a:cs typeface="Calibri"/>
              </a:rPr>
              <a:t>傳輸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成本</a:t>
            </a:r>
            <a:r>
              <a:rPr lang="zh-TW" altLang="en-US" sz="2000">
                <a:latin typeface="Microsoft JhengHei"/>
                <a:ea typeface="Microsoft JhengHei"/>
                <a:cs typeface="Calibri"/>
              </a:rPr>
              <a:t>。</a:t>
            </a:r>
            <a:endParaRPr lang="zh-TW" altLang="en-US" sz="2000">
              <a:solidFill>
                <a:srgbClr val="000000"/>
              </a:solidFill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>
                <a:latin typeface="Microsoft JhengHei"/>
                <a:ea typeface="Microsoft JhengHei"/>
                <a:cs typeface="Calibri"/>
              </a:rPr>
              <a:t>許多產業的數據高度分散且敏感，單一機構或個人的數據量往往不足以訓練出一個高精確度的模型，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聯邦學習(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Federated Learning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)可以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在保護資料隱私的前提下，建立高效能的 </a:t>
            </a:r>
            <a:r>
              <a:rPr lang="en-US" altLang="zh-TW" sz="2000">
                <a:latin typeface="Microsoft JhengHei"/>
                <a:ea typeface="Microsoft JhengHei"/>
                <a:cs typeface="+mn-lt"/>
              </a:rPr>
              <a:t>AI</a:t>
            </a:r>
            <a:r>
              <a:rPr lang="zh-TW" altLang="en-US" sz="20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模型。</a:t>
            </a:r>
            <a:endParaRPr lang="zh-TW" altLang="en-US" sz="2000">
              <a:solidFill>
                <a:srgbClr val="000000"/>
              </a:solidFill>
              <a:latin typeface="Microsoft JhengHei"/>
              <a:ea typeface="Microsoft JhengHei"/>
              <a:cs typeface="+mn-lt"/>
            </a:endParaRPr>
          </a:p>
          <a:p>
            <a:pPr marL="566420" lvl="2">
              <a:buFont typeface="Wingdings" panose="05000000000000000000" pitchFamily="2" charset="2"/>
              <a:buChar char="Ø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Client資料不用上傳</a:t>
            </a:r>
            <a:r>
              <a:rPr lang="zh-TW" altLang="en-US" sz="2000">
                <a:latin typeface="Microsoft JhengHei"/>
                <a:ea typeface="Microsoft JhengHei"/>
                <a:cs typeface="Calibri"/>
              </a:rPr>
              <a:t>自己學習好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、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保護隱私</a:t>
            </a:r>
            <a:r>
              <a:rPr lang="zh-TW" sz="2000">
                <a:latin typeface="Microsoft JhengHei"/>
                <a:ea typeface="Microsoft JhengHei"/>
                <a:cs typeface="Calibri"/>
              </a:rPr>
              <a:t>、多Client共同參與，最終模型可以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吸納來自不同來源、不同特性的豐富樣本，從而提升模型的泛化能力與預測準確度。</a:t>
            </a:r>
            <a:endParaRPr lang="zh-TW" sz="2000">
              <a:latin typeface="Microsoft JhengHei"/>
              <a:ea typeface="Microsoft JhengHei"/>
              <a:cs typeface="Times New Roman"/>
            </a:endParaRPr>
          </a:p>
          <a:p>
            <a:pPr marL="566420" lvl="2">
              <a:buFont typeface="Wingdings" panose="05000000000000000000" pitchFamily="2" charset="2"/>
              <a:buChar char="Ø"/>
            </a:pPr>
            <a:r>
              <a:rPr lang="zh-TW" altLang="en-US" sz="2000" b="1">
                <a:solidFill>
                  <a:srgbClr val="FF0000"/>
                </a:solidFill>
                <a:latin typeface="Microsoft JhengHei"/>
                <a:ea typeface="Microsoft JhengHei"/>
                <a:cs typeface="+mn-lt"/>
              </a:rPr>
              <a:t>動機</a:t>
            </a:r>
            <a:endParaRPr lang="zh-TW" sz="2000" b="1">
              <a:solidFill>
                <a:srgbClr val="FF0000"/>
              </a:solidFill>
              <a:latin typeface="Microsoft JhengHei"/>
              <a:ea typeface="Microsoft JhengHei"/>
              <a:cs typeface="+mn-lt"/>
            </a:endParaRPr>
          </a:p>
          <a:p>
            <a:pPr marL="749300" lvl="3">
              <a:buFont typeface="Wingdings" panose="05000000000000000000" pitchFamily="2" charset="2"/>
              <a:buChar char="l"/>
            </a:pPr>
            <a:r>
              <a:rPr lang="zh-TW" altLang="en-US" sz="2000">
                <a:latin typeface="Microsoft JhengHei"/>
                <a:ea typeface="Microsoft JhengHei"/>
                <a:cs typeface="+mn-lt"/>
              </a:rPr>
              <a:t>這次藉由職前訓練短期內讓我快速成長，我在期間學習了一種我過往沒學過的聯邦學習，然後趕快實作出聯邦學習與CNN的架構，最後使用</a:t>
            </a: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+mn-lt"/>
              </a:rPr>
              <a:t>可以快速拿到的手寫數字資料集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做訓練，看起來辨識結果不錯，</a:t>
            </a:r>
            <a:r>
              <a:rPr lang="zh-TW" altLang="en-US" sz="2000" b="1">
                <a:solidFill>
                  <a:srgbClr val="FF0000"/>
                </a:solidFill>
                <a:latin typeface="Microsoft JhengHei"/>
                <a:ea typeface="Microsoft JhengHei"/>
                <a:cs typeface="+mn-lt"/>
              </a:rPr>
              <a:t>未來期望拿更多不同的資料集用這專題實作的Framework做訓練來應用到不同領域</a:t>
            </a:r>
            <a:r>
              <a:rPr lang="zh-TW" sz="2000" b="1" dirty="0">
                <a:solidFill>
                  <a:srgbClr val="FF0000"/>
                </a:solidFill>
                <a:latin typeface="Microsoft JhengHei"/>
                <a:ea typeface="Microsoft JhengHei"/>
                <a:cs typeface="+mn-lt"/>
              </a:rPr>
              <a:t>。</a:t>
            </a:r>
          </a:p>
          <a:p>
            <a:pPr marL="566420" lvl="2">
              <a:buFont typeface="Wingdings" panose="05000000000000000000" pitchFamily="2" charset="2"/>
              <a:buChar char="Ø"/>
            </a:pPr>
            <a:endParaRPr lang="zh-TW" altLang="en-US" sz="2000" dirty="0">
              <a:latin typeface="Microsoft JhengHei"/>
              <a:ea typeface="Microsoft JhengHei"/>
              <a:cs typeface="+mn-lt"/>
            </a:endParaRPr>
          </a:p>
        </p:txBody>
      </p:sp>
      <p:pic>
        <p:nvPicPr>
          <p:cNvPr id="7" name="圖片 6" descr="Python Download png">
            <a:extLst>
              <a:ext uri="{FF2B5EF4-FFF2-40B4-BE49-F238E27FC236}">
                <a16:creationId xmlns:a16="http://schemas.microsoft.com/office/drawing/2014/main" id="{FDEB46CF-E0AB-2B09-0243-B4F7B5FF4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858" y="3628"/>
            <a:ext cx="1669143" cy="1669143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11" name="圖片 10" descr="MNIST Handwritten Digit Classification | Matt Pewsey">
            <a:extLst>
              <a:ext uri="{FF2B5EF4-FFF2-40B4-BE49-F238E27FC236}">
                <a16:creationId xmlns:a16="http://schemas.microsoft.com/office/drawing/2014/main" id="{B89FBC47-887F-9E30-4996-F597D114C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528128"/>
            <a:ext cx="1756230" cy="1331687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97563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92E54-7858-FF1C-43CF-22EDB407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E0368F-EF47-86B7-D0AD-221AA83A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/>
                </a:solidFill>
                <a:latin typeface="Microsoft JhengHei"/>
                <a:ea typeface="Microsoft JhengHei"/>
              </a:rPr>
              <a:t>專題流程圖</a:t>
            </a:r>
            <a:endParaRPr lang="zh-TW" altLang="en-US" dirty="0">
              <a:solidFill>
                <a:schemeClr val="tx1"/>
              </a:solidFill>
              <a:latin typeface="Microsoft JhengHei"/>
              <a:ea typeface="Microsoft JhengHei"/>
            </a:endParaRP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CE8CFC23-EB43-DEC2-68FE-FD58F219F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857" y="1802191"/>
            <a:ext cx="10385932" cy="505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98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9CF3-9D5F-2FB2-16D8-788CCF8D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0E9F31-1C38-C9C6-7D45-16397699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/>
                </a:solidFill>
                <a:latin typeface="Microsoft JhengHei"/>
                <a:ea typeface="Microsoft JhengHei"/>
              </a:rPr>
              <a:t>MNIST數字辨識資料集​</a:t>
            </a:r>
            <a:endParaRPr lang="zh-TW" altLang="en-US" dirty="0">
              <a:solidFill>
                <a:schemeClr val="tx1"/>
              </a:solidFill>
              <a:latin typeface="Microsoft JhengHei"/>
              <a:ea typeface="Microsoft JhengHei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9BC949-94BD-BE79-0DC6-AD2977232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,sans-serif"/>
              <a:buChar char="l"/>
            </a:pPr>
            <a:r>
              <a:rPr lang="zh-TW" altLang="en-US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美國國家標準與技術研究院(</a:t>
            </a:r>
            <a:r>
              <a:rPr lang="en-US" altLang="zh-TW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NIST)</a:t>
            </a:r>
            <a:r>
              <a:rPr lang="zh-TW" altLang="en-US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的手寫數字資料</a:t>
            </a:r>
            <a:endParaRPr lang="zh-TW" altLang="en-US">
              <a:solidFill>
                <a:schemeClr val="tx1"/>
              </a:solidFill>
              <a:latin typeface="Microsoft JhengHei"/>
              <a:ea typeface="Microsoft JhengHei"/>
              <a:cs typeface="Calibri" panose="020F0502020204030204"/>
            </a:endParaRPr>
          </a:p>
          <a:p>
            <a:pPr>
              <a:buSzPct val="100000"/>
              <a:buFont typeface="Wingdings,sans-serif"/>
              <a:buChar char="l"/>
            </a:pPr>
            <a:r>
              <a:rPr lang="zh-TW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機器學習與深度學習最經典的手寫數字辨識資料集</a:t>
            </a:r>
            <a:endParaRPr lang="zh-TW">
              <a:solidFill>
                <a:schemeClr val="tx1"/>
              </a:solidFill>
              <a:latin typeface="Microsoft JhengHei"/>
              <a:ea typeface="Microsoft JhengHei"/>
              <a:cs typeface="Calibri" panose="020F0502020204030204"/>
            </a:endParaRPr>
          </a:p>
          <a:p>
            <a:pPr>
              <a:buFont typeface="Wingdings,sans-serif"/>
              <a:buChar char="l"/>
            </a:pPr>
            <a:r>
              <a:rPr lang="en-US" altLang="zh-TW" err="1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資料集</a:t>
            </a:r>
            <a:endParaRPr lang="en-US" altLang="zh-TW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每張圖片都是手寫數字</a:t>
            </a:r>
          </a:p>
          <a:p>
            <a:pPr marL="566420" lvl="2">
              <a:buFont typeface="Wingdings"/>
              <a:buChar char="§"/>
            </a:pPr>
            <a:r>
              <a:rPr lang="en-US" sz="2000" dirty="0" err="1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資料格式</a:t>
            </a:r>
            <a:r>
              <a:rPr lang="en-US" sz="2000" dirty="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 = ( Image, Label )</a:t>
            </a:r>
            <a:endParaRPr lang="en-US" altLang="zh-TW" sz="2000" dirty="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566420" lvl="2">
              <a:buFont typeface="Wingdings"/>
              <a:buChar char="§"/>
            </a:pPr>
            <a:r>
              <a:rPr lang="en-US" alt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28</a:t>
            </a:r>
            <a:r>
              <a:rPr lang="zh-TW" altLang="en-US" sz="2000" dirty="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×</a:t>
            </a:r>
            <a:r>
              <a:rPr lang="zh-TW" altLang="en-US" sz="2000" dirty="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28</a:t>
            </a:r>
            <a:r>
              <a:rPr lang="zh-TW" altLang="en-US" sz="2000" dirty="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pixels </a:t>
            </a:r>
            <a:r>
              <a:rPr 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= 784 pixels</a:t>
            </a:r>
            <a:endParaRPr lang="zh-TW" sz="200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566420" lvl="2">
              <a:buFont typeface="Wingdings"/>
              <a:buChar char="§"/>
            </a:pPr>
            <a:r>
              <a:rPr lang="en-US" altLang="zh-TW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Label 有 10 種 </a:t>
            </a:r>
            <a:r>
              <a:rPr 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( 0 ~ 9 )</a:t>
            </a:r>
            <a:endParaRPr lang="en-US" altLang="zh-TW" sz="2000" dirty="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 alt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總共</a:t>
            </a:r>
            <a:r>
              <a:rPr 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70000</a:t>
            </a:r>
            <a:r>
              <a:rPr lang="zh-TW" alt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張圖</a:t>
            </a:r>
            <a:endParaRPr lang="en-US" sz="200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566420" lvl="2">
              <a:buFont typeface="Wingdings"/>
              <a:buChar char="§"/>
            </a:pPr>
            <a:r>
              <a:rPr 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Training Images : 60000</a:t>
            </a:r>
            <a:r>
              <a:rPr lang="zh-TW" altLang="en-US" sz="2000" dirty="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張圖</a:t>
            </a:r>
            <a:endParaRPr lang="en-US" sz="200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566420" lvl="2">
              <a:buFont typeface="Wingdings"/>
              <a:buChar char="§"/>
            </a:pPr>
            <a:r>
              <a:rPr 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Test Images : 10000</a:t>
            </a:r>
            <a:r>
              <a:rPr lang="zh-TW" altLang="en-US" sz="2000">
                <a:solidFill>
                  <a:schemeClr val="tx1"/>
                </a:solidFill>
                <a:latin typeface="Microsoft JhengHei"/>
                <a:ea typeface="Microsoft JhengHei"/>
                <a:cs typeface="+mn-lt"/>
              </a:rPr>
              <a:t>張圖</a:t>
            </a:r>
            <a:endParaRPr lang="en-US" sz="200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endParaRPr lang="en-US" altLang="zh-TW" sz="2000" dirty="0">
              <a:solidFill>
                <a:schemeClr val="tx1"/>
              </a:solidFill>
              <a:latin typeface="Microsoft JhengHei"/>
              <a:ea typeface="Microsoft JhengHe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zh-TW" altLang="en-US" dirty="0">
              <a:ea typeface="新細明體"/>
              <a:cs typeface="Calibri" panose="020F0502020204030204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065A9E1-C9D0-A32D-9D43-5937DE26C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965" y="1842861"/>
            <a:ext cx="2857500" cy="19240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095D4B4-1734-81AD-507E-C4F0724D5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456" y="4674505"/>
            <a:ext cx="3976915" cy="170361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BDEF3ED-2D08-0287-D153-6BFAD0E5AF38}"/>
              </a:ext>
            </a:extLst>
          </p:cNvPr>
          <p:cNvSpPr txBox="1"/>
          <p:nvPr/>
        </p:nvSpPr>
        <p:spPr>
          <a:xfrm>
            <a:off x="8086428" y="4302388"/>
            <a:ext cx="84182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>
                <a:ea typeface="新細明體"/>
                <a:cs typeface="Calibri"/>
              </a:rPr>
              <a:t>MNIST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284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19A19-97B1-06F2-7E4D-40A7553B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2C6250-1148-D838-02FC-D68CD592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solidFill>
                  <a:schemeClr val="tx1"/>
                </a:solidFill>
                <a:latin typeface="Microsoft JhengHei"/>
                <a:ea typeface="Microsoft JhengHei"/>
              </a:rPr>
              <a:t>卷積神經網路(CNN) </a:t>
            </a:r>
            <a:endParaRPr lang="zh-TW">
              <a:solidFill>
                <a:schemeClr val="tx1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5A875-752E-1706-4C5E-5F5928A11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,sans-serif"/>
              <a:buChar char="l"/>
            </a:pPr>
            <a:r>
              <a:rPr lang="zh-TW" altLang="en-US">
                <a:solidFill>
                  <a:schemeClr val="tx1"/>
                </a:solidFill>
                <a:ea typeface="+mn-lt"/>
                <a:cs typeface="+mn-lt"/>
              </a:rPr>
              <a:t>目前</a:t>
            </a: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影像辨識最重要的深度學習模型</a:t>
            </a:r>
            <a:r>
              <a:rPr lang="zh-TW" altLang="en-US">
                <a:solidFill>
                  <a:schemeClr val="tx1"/>
                </a:solidFill>
                <a:ea typeface="+mn-lt"/>
                <a:cs typeface="+mn-lt"/>
              </a:rPr>
              <a:t>之一，</a:t>
            </a: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擅長從圖片中自動</a:t>
            </a:r>
            <a:endParaRPr lang="zh-TW" altLang="en-US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0" indent="0">
              <a:buNone/>
            </a:pP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   學習特徵，例如邊緣、紋理、形狀，到更高層次的物體結構。</a:t>
            </a:r>
            <a:endParaRPr lang="zh-TW" altLang="en-US">
              <a:solidFill>
                <a:schemeClr val="tx1"/>
              </a:solidFill>
              <a:latin typeface="Microsoft JhengHei"/>
              <a:ea typeface="Microsoft JhengHei"/>
              <a:cs typeface="Calibri" panose="020F0502020204030204"/>
            </a:endParaRPr>
          </a:p>
          <a:p>
            <a:pPr>
              <a:buSzPct val="100000"/>
              <a:buFont typeface="Wingdings,sans-serif"/>
              <a:buChar char="l"/>
            </a:pPr>
            <a:r>
              <a:rPr lang="zh-TW" altLang="en-US">
                <a:solidFill>
                  <a:schemeClr val="tx1"/>
                </a:solidFill>
                <a:ea typeface="+mn-lt"/>
                <a:cs typeface="+mn-lt"/>
              </a:rPr>
              <a:t>廣泛應用於</a:t>
            </a:r>
            <a:endParaRPr lang="zh-TW">
              <a:solidFill>
                <a:schemeClr val="tx1"/>
              </a:solidFill>
              <a:latin typeface="Microsoft JhengHei"/>
              <a:ea typeface="Microsoft JhengHei"/>
              <a:cs typeface="Calibri" panose="020F0502020204030204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影像分類</a:t>
            </a:r>
            <a:r>
              <a:rPr lang="en-US" altLang="zh-TW">
                <a:solidFill>
                  <a:schemeClr val="tx1"/>
                </a:solidFill>
                <a:ea typeface="+mn-lt"/>
                <a:cs typeface="+mn-lt"/>
              </a:rPr>
              <a:t>(</a:t>
            </a: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Image Classification</a:t>
            </a:r>
            <a:r>
              <a:rPr lang="en-US" altLang="zh-TW" dirty="0">
                <a:solidFill>
                  <a:schemeClr val="tx1"/>
                </a:solidFill>
                <a:ea typeface="+mn-lt"/>
                <a:cs typeface="+mn-lt"/>
              </a:rPr>
              <a:t>)</a:t>
            </a:r>
            <a:endParaRPr lang="zh-TW" altLang="en-US" dirty="0">
              <a:solidFill>
                <a:schemeClr val="tx1"/>
              </a:solidFill>
              <a:latin typeface="Calibri"/>
              <a:ea typeface="Microsoft JhengHe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人臉辨識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(Face Recognition)</a:t>
            </a:r>
            <a:endParaRPr lang="en-US" altLang="zh-TW" dirty="0">
              <a:solidFill>
                <a:schemeClr val="tx1"/>
              </a:solidFill>
              <a:latin typeface="Calibri"/>
              <a:ea typeface="Calibr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 altLang="en-US">
                <a:solidFill>
                  <a:schemeClr val="tx1"/>
                </a:solidFill>
                <a:ea typeface="+mn-lt"/>
                <a:cs typeface="+mn-lt"/>
              </a:rPr>
              <a:t>自駕車(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Object Detection)</a:t>
            </a:r>
            <a:endParaRPr lang="en-US" dirty="0">
              <a:solidFill>
                <a:schemeClr val="tx1"/>
              </a:solidFill>
              <a:latin typeface="Calibri"/>
              <a:ea typeface="Calibr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 altLang="en-US">
                <a:solidFill>
                  <a:schemeClr val="tx1"/>
                </a:solidFill>
                <a:ea typeface="+mn-lt"/>
                <a:cs typeface="+mn-lt"/>
              </a:rPr>
              <a:t>醫療影像分析</a:t>
            </a:r>
            <a:endParaRPr lang="en-US" dirty="0">
              <a:solidFill>
                <a:schemeClr val="tx1"/>
              </a:solidFill>
              <a:latin typeface="Calibri"/>
              <a:ea typeface="Calibr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衛星影像辨識</a:t>
            </a:r>
            <a:endParaRPr lang="zh-TW" altLang="en-US" dirty="0">
              <a:solidFill>
                <a:schemeClr val="tx1"/>
              </a:solidFill>
              <a:latin typeface="Calibri"/>
              <a:ea typeface="Microsoft JhengHei"/>
              <a:cs typeface="Calibri"/>
            </a:endParaRPr>
          </a:p>
          <a:p>
            <a:pPr marL="383540" lvl="1" indent="-285750">
              <a:buFont typeface="Wingdings,sans-serif"/>
              <a:buChar char="u"/>
            </a:pPr>
            <a:r>
              <a:rPr lang="zh-TW">
                <a:solidFill>
                  <a:schemeClr val="tx1"/>
                </a:solidFill>
                <a:ea typeface="+mn-lt"/>
                <a:cs typeface="+mn-lt"/>
              </a:rPr>
              <a:t>MNIST 手寫數字辨識</a:t>
            </a:r>
            <a:endParaRPr lang="zh-TW" altLang="en-US" dirty="0">
              <a:solidFill>
                <a:schemeClr val="tx1"/>
              </a:solidFill>
              <a:latin typeface="Calibri"/>
              <a:ea typeface="Microsoft JhengHei"/>
              <a:cs typeface="Calibri"/>
            </a:endParaRPr>
          </a:p>
          <a:p>
            <a:pPr marL="383540" lvl="1" indent="-285750">
              <a:buFont typeface="Wingdings,sans-serif"/>
              <a:buChar char="u"/>
            </a:pPr>
            <a:endParaRPr lang="en-US" altLang="zh-TW" dirty="0">
              <a:solidFill>
                <a:srgbClr val="000000"/>
              </a:solidFill>
              <a:latin typeface="Microsoft JhengHei"/>
              <a:ea typeface="Microsoft JhengHe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zh-TW" altLang="en-US" dirty="0">
              <a:solidFill>
                <a:srgbClr val="404040"/>
              </a:solidFill>
              <a:latin typeface="Calibri" panose="020F0502020204030204"/>
              <a:ea typeface="新細明體"/>
              <a:cs typeface="Calibri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D480EF4-5F09-87C4-7BF5-D277CCB882A9}"/>
              </a:ext>
            </a:extLst>
          </p:cNvPr>
          <p:cNvGrpSpPr/>
          <p:nvPr/>
        </p:nvGrpSpPr>
        <p:grpSpPr>
          <a:xfrm>
            <a:off x="6037942" y="178"/>
            <a:ext cx="6154058" cy="6857822"/>
            <a:chOff x="6037942" y="178"/>
            <a:chExt cx="6154058" cy="6857822"/>
          </a:xfrm>
        </p:grpSpPr>
        <p:pic>
          <p:nvPicPr>
            <p:cNvPr id="6" name="圖片 5" descr="mBlock | AI Learning Makes Easy and Engaging">
              <a:extLst>
                <a:ext uri="{FF2B5EF4-FFF2-40B4-BE49-F238E27FC236}">
                  <a16:creationId xmlns:a16="http://schemas.microsoft.com/office/drawing/2014/main" id="{F2F35C87-7AE7-0305-ED26-AAA000962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73029" y="178"/>
              <a:ext cx="3018971" cy="3751585"/>
            </a:xfrm>
            <a:prstGeom prst="rect">
              <a:avLst/>
            </a:prstGeom>
          </p:spPr>
        </p:pic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D112A4D4-2E41-34DB-FECF-EF8389E1E8F9}"/>
                </a:ext>
              </a:extLst>
            </p:cNvPr>
            <p:cNvGrpSpPr/>
            <p:nvPr/>
          </p:nvGrpSpPr>
          <p:grpSpPr>
            <a:xfrm>
              <a:off x="6037942" y="3383654"/>
              <a:ext cx="6154057" cy="3474346"/>
              <a:chOff x="6037942" y="3383654"/>
              <a:chExt cx="6154057" cy="3474346"/>
            </a:xfrm>
          </p:grpSpPr>
          <p:pic>
            <p:nvPicPr>
              <p:cNvPr id="5" name="圖片 4" descr="Image Recognition - Term Explanation in the AI Glossary">
                <a:extLst>
                  <a:ext uri="{FF2B5EF4-FFF2-40B4-BE49-F238E27FC236}">
                    <a16:creationId xmlns:a16="http://schemas.microsoft.com/office/drawing/2014/main" id="{20742317-C0D9-3C08-3128-9B87A62F23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37942" y="3802743"/>
                <a:ext cx="6154057" cy="3055257"/>
              </a:xfrm>
              <a:prstGeom prst="rect">
                <a:avLst/>
              </a:prstGeom>
            </p:spPr>
          </p:pic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4BE6DCB-D8C3-32CE-E586-03E297AC6510}"/>
                  </a:ext>
                </a:extLst>
              </p:cNvPr>
              <p:cNvSpPr txBox="1"/>
              <p:nvPr/>
            </p:nvSpPr>
            <p:spPr>
              <a:xfrm>
                <a:off x="6040811" y="3383654"/>
                <a:ext cx="1008743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TW" altLang="en-US">
                    <a:solidFill>
                      <a:srgbClr val="FF0000"/>
                    </a:solidFill>
                    <a:highlight>
                      <a:srgbClr val="FFFF00"/>
                    </a:highlight>
                    <a:ea typeface="新細明體"/>
                    <a:cs typeface="Calibri"/>
                  </a:rPr>
                  <a:t>Example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1479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1FFD-1BD9-DE0D-2976-78FF0E6E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4C68B0-533C-5068-C07D-FC4E936B5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tx1"/>
                </a:solidFill>
                <a:latin typeface="Microsoft JhengHei"/>
                <a:ea typeface="Microsoft JhengHei"/>
              </a:rPr>
              <a:t>卷積神經網路(CNN)​</a:t>
            </a:r>
            <a:endParaRPr lang="zh-TW" altLang="en-US" dirty="0">
              <a:solidFill>
                <a:schemeClr val="tx1"/>
              </a:solidFill>
              <a:latin typeface="Microsoft JhengHei"/>
              <a:ea typeface="Microsoft JhengHei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1E75E67-3AF8-7BB3-6691-72C045328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,sans-serif"/>
              <a:buChar char="l"/>
            </a:pPr>
            <a:endParaRPr lang="zh-TW" altLang="en-US" sz="2000" dirty="0">
              <a:solidFill>
                <a:schemeClr val="tx1"/>
              </a:solidFill>
              <a:latin typeface="Microsoft JhengHei"/>
              <a:ea typeface="Microsoft JhengHei"/>
              <a:cs typeface="+mn-lt"/>
            </a:endParaRPr>
          </a:p>
          <a:p>
            <a:pPr marL="383540" lvl="1" indent="-285750">
              <a:buFont typeface="Wingdings,sans-serif"/>
              <a:buChar char="u"/>
            </a:pPr>
            <a:endParaRPr lang="en-US" altLang="zh-TW" sz="2000" dirty="0">
              <a:solidFill>
                <a:schemeClr val="tx1"/>
              </a:solidFill>
              <a:latin typeface="Microsoft JhengHei"/>
              <a:ea typeface="Microsoft JhengHe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zh-TW" altLang="en-US" dirty="0">
              <a:ea typeface="新細明體"/>
              <a:cs typeface="Calibri" panose="020F0502020204030204"/>
            </a:endParaRPr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1228390F-A17B-61BB-5D84-FDB4667B54D8}"/>
              </a:ext>
            </a:extLst>
          </p:cNvPr>
          <p:cNvGrpSpPr/>
          <p:nvPr/>
        </p:nvGrpSpPr>
        <p:grpSpPr>
          <a:xfrm>
            <a:off x="2184183" y="1845734"/>
            <a:ext cx="7889934" cy="4879942"/>
            <a:chOff x="2443021" y="1845734"/>
            <a:chExt cx="7889934" cy="4879942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9BEAB187-4626-7EB8-18F7-51199FEE557B}"/>
                </a:ext>
              </a:extLst>
            </p:cNvPr>
            <p:cNvGrpSpPr/>
            <p:nvPr/>
          </p:nvGrpSpPr>
          <p:grpSpPr>
            <a:xfrm>
              <a:off x="2443021" y="1845734"/>
              <a:ext cx="7889934" cy="4879942"/>
              <a:chOff x="2443021" y="1845734"/>
              <a:chExt cx="7889934" cy="4879942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9EBC9443-7BD3-1D85-3922-574AF5047113}"/>
                  </a:ext>
                </a:extLst>
              </p:cNvPr>
              <p:cNvGrpSpPr/>
              <p:nvPr/>
            </p:nvGrpSpPr>
            <p:grpSpPr>
              <a:xfrm>
                <a:off x="2443021" y="1845734"/>
                <a:ext cx="7889934" cy="4879942"/>
                <a:chOff x="2358355" y="1978058"/>
                <a:chExt cx="7889934" cy="4879942"/>
              </a:xfrm>
            </p:grpSpPr>
            <p:grpSp>
              <p:nvGrpSpPr>
                <p:cNvPr id="12" name="群組 11">
                  <a:extLst>
                    <a:ext uri="{FF2B5EF4-FFF2-40B4-BE49-F238E27FC236}">
                      <a16:creationId xmlns:a16="http://schemas.microsoft.com/office/drawing/2014/main" id="{5EA83602-871F-3976-484B-BEE7BADFD81B}"/>
                    </a:ext>
                  </a:extLst>
                </p:cNvPr>
                <p:cNvGrpSpPr/>
                <p:nvPr/>
              </p:nvGrpSpPr>
              <p:grpSpPr>
                <a:xfrm>
                  <a:off x="2358355" y="1978058"/>
                  <a:ext cx="7889934" cy="4879942"/>
                  <a:chOff x="3025611" y="1544333"/>
                  <a:chExt cx="7889934" cy="4879942"/>
                </a:xfrm>
              </p:grpSpPr>
              <p:grpSp>
                <p:nvGrpSpPr>
                  <p:cNvPr id="14" name="群組 13">
                    <a:extLst>
                      <a:ext uri="{FF2B5EF4-FFF2-40B4-BE49-F238E27FC236}">
                        <a16:creationId xmlns:a16="http://schemas.microsoft.com/office/drawing/2014/main" id="{3F71D41C-457A-36D5-EE22-6937C60332CB}"/>
                      </a:ext>
                    </a:extLst>
                  </p:cNvPr>
                  <p:cNvGrpSpPr/>
                  <p:nvPr/>
                </p:nvGrpSpPr>
                <p:grpSpPr>
                  <a:xfrm>
                    <a:off x="4577795" y="1544333"/>
                    <a:ext cx="6337750" cy="4879942"/>
                    <a:chOff x="6096000" y="1604619"/>
                    <a:chExt cx="6337750" cy="4879942"/>
                  </a:xfrm>
                </p:grpSpPr>
                <p:grpSp>
                  <p:nvGrpSpPr>
                    <p:cNvPr id="21" name="群組 20">
                      <a:extLst>
                        <a:ext uri="{FF2B5EF4-FFF2-40B4-BE49-F238E27FC236}">
                          <a16:creationId xmlns:a16="http://schemas.microsoft.com/office/drawing/2014/main" id="{63153A06-2A32-FC85-ED18-54406997E8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0" y="1604619"/>
                      <a:ext cx="6337750" cy="4879942"/>
                      <a:chOff x="6096000" y="1604619"/>
                      <a:chExt cx="6337750" cy="4879942"/>
                    </a:xfrm>
                  </p:grpSpPr>
                  <p:grpSp>
                    <p:nvGrpSpPr>
                      <p:cNvPr id="23" name="群組 22">
                        <a:extLst>
                          <a:ext uri="{FF2B5EF4-FFF2-40B4-BE49-F238E27FC236}">
                            <a16:creationId xmlns:a16="http://schemas.microsoft.com/office/drawing/2014/main" id="{F7C69592-4792-D1C0-3B21-2A22656893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026399" y="1604619"/>
                        <a:ext cx="4407351" cy="4879942"/>
                        <a:chOff x="8026399" y="1604619"/>
                        <a:chExt cx="4407351" cy="4879942"/>
                      </a:xfrm>
                    </p:grpSpPr>
                    <p:grpSp>
                      <p:nvGrpSpPr>
                        <p:cNvPr id="26" name="群組 25">
                          <a:extLst>
                            <a:ext uri="{FF2B5EF4-FFF2-40B4-BE49-F238E27FC236}">
                              <a16:creationId xmlns:a16="http://schemas.microsoft.com/office/drawing/2014/main" id="{1BB9C482-1C6C-E6D3-7416-6910DB9211F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287099" y="1604619"/>
                          <a:ext cx="2714826" cy="4879942"/>
                          <a:chOff x="8717700" y="1655418"/>
                          <a:chExt cx="2714826" cy="4879942"/>
                        </a:xfrm>
                      </p:grpSpPr>
                      <p:grpSp>
                        <p:nvGrpSpPr>
                          <p:cNvPr id="32" name="群組 31">
                            <a:extLst>
                              <a:ext uri="{FF2B5EF4-FFF2-40B4-BE49-F238E27FC236}">
                                <a16:creationId xmlns:a16="http://schemas.microsoft.com/office/drawing/2014/main" id="{3ECA6E3C-E001-E0B8-F281-90C73A1DA14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717700" y="1655418"/>
                            <a:ext cx="2070328" cy="4729779"/>
                            <a:chOff x="728472" y="1841685"/>
                            <a:chExt cx="2070328" cy="4729779"/>
                          </a:xfrm>
                        </p:grpSpPr>
                        <p:grpSp>
                          <p:nvGrpSpPr>
                            <p:cNvPr id="34" name="群組 33">
                              <a:extLst>
                                <a:ext uri="{FF2B5EF4-FFF2-40B4-BE49-F238E27FC236}">
                                  <a16:creationId xmlns:a16="http://schemas.microsoft.com/office/drawing/2014/main" id="{D869D279-3F15-54CC-3BB7-9C3DED7CA8B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4556" y="1841685"/>
                              <a:ext cx="2044939" cy="1402073"/>
                              <a:chOff x="744556" y="1841685"/>
                              <a:chExt cx="2044939" cy="1402073"/>
                            </a:xfrm>
                          </p:grpSpPr>
                          <p:sp>
                            <p:nvSpPr>
                              <p:cNvPr id="39" name="文字方塊 38">
                                <a:extLst>
                                  <a:ext uri="{FF2B5EF4-FFF2-40B4-BE49-F238E27FC236}">
                                    <a16:creationId xmlns:a16="http://schemas.microsoft.com/office/drawing/2014/main" id="{564ADE0D-5A49-B31B-EC86-B031137C52F2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356891" y="1841685"/>
                                <a:ext cx="769763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r>
                                  <a:rPr lang="en-US" altLang="zh-TW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a:t>inputs</a:t>
                                </a:r>
                                <a:endPara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40" name="文字方塊 39">
                                <a:extLst>
                                  <a:ext uri="{FF2B5EF4-FFF2-40B4-BE49-F238E27FC236}">
                                    <a16:creationId xmlns:a16="http://schemas.microsoft.com/office/drawing/2014/main" id="{83B71E71-0AC4-5105-2FE6-9B650B4E2C0A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744556" y="2874426"/>
                                <a:ext cx="2044939" cy="369332"/>
                              </a:xfrm>
                              <a:prstGeom prst="rect">
                                <a:avLst/>
                              </a:prstGeom>
                              <a:gradFill>
                                <a:gsLst>
                                  <a:gs pos="0">
                                    <a:schemeClr val="accent1">
                                      <a:lumMod val="5000"/>
                                      <a:lumOff val="95000"/>
                                    </a:schemeClr>
                                  </a:gs>
                                  <a:gs pos="74000">
                                    <a:schemeClr val="accent1">
                                      <a:lumMod val="45000"/>
                                      <a:lumOff val="55000"/>
                                    </a:schemeClr>
                                  </a:gs>
                                  <a:gs pos="83000">
                                    <a:schemeClr val="accent1">
                                      <a:lumMod val="45000"/>
                                      <a:lumOff val="55000"/>
                                    </a:schemeClr>
                                  </a:gs>
                                  <a:gs pos="100000">
                                    <a:schemeClr val="accent1">
                                      <a:lumMod val="30000"/>
                                      <a:lumOff val="70000"/>
                                    </a:schemeClr>
                                  </a:gs>
                                </a:gsLst>
                                <a:lin ang="5400000" scaled="1"/>
                              </a:gradFill>
                              <a:ln w="25400">
                                <a:solidFill>
                                  <a:srgbClr val="FF0000"/>
                                </a:solidFill>
                              </a:ln>
                            </p:spPr>
                            <p:txBody>
                              <a:bodyPr wrap="square" lIns="91440" tIns="45720" rIns="91440" bIns="45720" rtlCol="0" anchor="t">
                                <a:spAutoFit/>
                              </a:bodyPr>
                              <a:lstStyle/>
                              <a:p>
                                <a:r>
                                  <a:rPr lang="en-US" altLang="zh-TW" dirty="0">
                                    <a:latin typeface="Times New Roman"/>
                                    <a:ea typeface="新細明體"/>
                                    <a:cs typeface="Times New Roman"/>
                                  </a:rPr>
                                  <a:t>Convolution</a:t>
                                </a:r>
                                <a:r>
                                  <a:rPr lang="zh-TW" altLang="en-US" dirty="0">
                                    <a:latin typeface="Times New Roman"/>
                                    <a:ea typeface="新細明體"/>
                                    <a:cs typeface="Times New Roman"/>
                                  </a:rPr>
                                  <a:t> </a:t>
                                </a:r>
                                <a:r>
                                  <a:rPr lang="en-US" altLang="zh-TW" dirty="0">
                                    <a:latin typeface="Times New Roman"/>
                                    <a:ea typeface="新細明體"/>
                                    <a:cs typeface="Times New Roman"/>
                                  </a:rPr>
                                  <a:t>Layer</a:t>
                                </a:r>
                              </a:p>
                            </p:txBody>
                          </p:sp>
                          <p:sp>
                            <p:nvSpPr>
                              <p:cNvPr id="41" name="箭號: 向下 40">
                                <a:extLst>
                                  <a:ext uri="{FF2B5EF4-FFF2-40B4-BE49-F238E27FC236}">
                                    <a16:creationId xmlns:a16="http://schemas.microsoft.com/office/drawing/2014/main" id="{7FB8FF82-524E-B383-94C9-E48250E05DD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61449" y="2319391"/>
                                <a:ext cx="515762" cy="369332"/>
                              </a:xfrm>
                              <a:prstGeom prst="downArrow">
                                <a:avLst/>
                              </a:prstGeom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TW" altLang="en-US"/>
                              </a:p>
                            </p:txBody>
                          </p:sp>
                        </p:grpSp>
                        <p:sp>
                          <p:nvSpPr>
                            <p:cNvPr id="35" name="文字方塊 34">
                              <a:extLst>
                                <a:ext uri="{FF2B5EF4-FFF2-40B4-BE49-F238E27FC236}">
                                  <a16:creationId xmlns:a16="http://schemas.microsoft.com/office/drawing/2014/main" id="{9FB709F0-DB86-BD5A-BA8D-0A78E0A9A2D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44556" y="3952700"/>
                              <a:ext cx="2037736" cy="369332"/>
                            </a:xfrm>
                            <a:prstGeom prst="rect">
                              <a:avLst/>
                            </a:prstGeom>
                            <a:gradFill>
                              <a:gsLst>
                                <a:gs pos="0">
                                  <a:schemeClr val="accent1">
                                    <a:lumMod val="6000"/>
                                    <a:lumOff val="94000"/>
                                  </a:schemeClr>
                                </a:gs>
                                <a:gs pos="74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83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100000">
                                  <a:schemeClr val="accent1">
                                    <a:lumMod val="30000"/>
                                    <a:lumOff val="70000"/>
                                  </a:schemeClr>
                                </a:gs>
                              </a:gsLst>
                              <a:lin ang="5400000" scaled="1"/>
                            </a:gradFill>
                            <a:ln w="25400">
                              <a:solidFill>
                                <a:srgbClr val="FF0000"/>
                              </a:solidFill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Max Pooling</a:t>
                              </a:r>
                              <a: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 </a:t>
                              </a:r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Layer</a:t>
                              </a:r>
                              <a:endParaRPr lang="zh-TW" altLang="en-US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36" name="箭號: 向下 35">
                              <a:extLst>
                                <a:ext uri="{FF2B5EF4-FFF2-40B4-BE49-F238E27FC236}">
                                  <a16:creationId xmlns:a16="http://schemas.microsoft.com/office/drawing/2014/main" id="{C271F007-6C15-1140-102B-32803CBE0A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1449" y="4639911"/>
                              <a:ext cx="515762" cy="369332"/>
                            </a:xfrm>
                            <a:prstGeom prst="downArrow">
                              <a:avLst/>
                            </a:prstGeom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TW" altLang="en-US"/>
                            </a:p>
                          </p:txBody>
                        </p:sp>
                        <p:sp>
                          <p:nvSpPr>
                            <p:cNvPr id="37" name="文字方塊 36">
                              <a:extLst>
                                <a:ext uri="{FF2B5EF4-FFF2-40B4-BE49-F238E27FC236}">
                                  <a16:creationId xmlns:a16="http://schemas.microsoft.com/office/drawing/2014/main" id="{FA38D8FA-2F89-1CEC-4CCC-3AEB39A6264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51759" y="5132380"/>
                              <a:ext cx="2037736" cy="369332"/>
                            </a:xfrm>
                            <a:prstGeom prst="rect">
                              <a:avLst/>
                            </a:prstGeom>
                            <a:gradFill>
                              <a:gsLst>
                                <a:gs pos="0">
                                  <a:schemeClr val="accent1">
                                    <a:lumMod val="5000"/>
                                    <a:lumOff val="95000"/>
                                  </a:schemeClr>
                                </a:gs>
                                <a:gs pos="74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83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100000">
                                  <a:schemeClr val="accent1">
                                    <a:lumMod val="30000"/>
                                    <a:lumOff val="70000"/>
                                  </a:schemeClr>
                                </a:gs>
                              </a:gsLst>
                              <a:lin ang="5400000" scaled="1"/>
                            </a:gradFill>
                            <a:ln w="25400">
                              <a:solidFill>
                                <a:srgbClr val="FF0000"/>
                              </a:solidFill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Convolution</a:t>
                              </a:r>
                              <a: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 </a:t>
                              </a:r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Layer</a:t>
                              </a:r>
                              <a:endParaRPr lang="zh-TW" altLang="en-US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38" name="文字方塊 37">
                              <a:extLst>
                                <a:ext uri="{FF2B5EF4-FFF2-40B4-BE49-F238E27FC236}">
                                  <a16:creationId xmlns:a16="http://schemas.microsoft.com/office/drawing/2014/main" id="{C880E8B2-5CAD-31A4-1F35-8B779CC333D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28472" y="6202132"/>
                              <a:ext cx="2070328" cy="369332"/>
                            </a:xfrm>
                            <a:prstGeom prst="rect">
                              <a:avLst/>
                            </a:prstGeom>
                            <a:gradFill>
                              <a:gsLst>
                                <a:gs pos="0">
                                  <a:schemeClr val="accent1">
                                    <a:lumMod val="5000"/>
                                    <a:lumOff val="95000"/>
                                  </a:schemeClr>
                                </a:gs>
                                <a:gs pos="74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83000">
                                  <a:schemeClr val="accent1">
                                    <a:lumMod val="45000"/>
                                    <a:lumOff val="55000"/>
                                  </a:schemeClr>
                                </a:gs>
                                <a:gs pos="100000">
                                  <a:schemeClr val="accent1">
                                    <a:lumMod val="30000"/>
                                    <a:lumOff val="70000"/>
                                  </a:schemeClr>
                                </a:gs>
                              </a:gsLst>
                              <a:lin ang="5400000" scaled="1"/>
                            </a:gradFill>
                            <a:ln w="25400">
                              <a:solidFill>
                                <a:srgbClr val="FF0000"/>
                              </a:solidFill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Max Pooling</a:t>
                              </a:r>
                              <a: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 </a:t>
                              </a:r>
                              <a:r>
                                <a:rPr lang="en-US" altLang="zh-TW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Layer</a:t>
                              </a:r>
                              <a:endParaRPr lang="zh-TW" altLang="en-US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3" name="右大括弧 32">
                            <a:extLst>
                              <a:ext uri="{FF2B5EF4-FFF2-40B4-BE49-F238E27FC236}">
                                <a16:creationId xmlns:a16="http://schemas.microsoft.com/office/drawing/2014/main" id="{041B8821-2612-5FB8-5C0B-C0F834B190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916764" y="3020337"/>
                            <a:ext cx="515762" cy="3515023"/>
                          </a:xfrm>
                          <a:prstGeom prst="rightBrace">
                            <a:avLst/>
                          </a:prstGeom>
                          <a:ln w="2540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TW" altLang="en-US"/>
                          </a:p>
                        </p:txBody>
                      </p:sp>
                    </p:grpSp>
                    <p:grpSp>
                      <p:nvGrpSpPr>
                        <p:cNvPr id="27" name="群組 26">
                          <a:extLst>
                            <a:ext uri="{FF2B5EF4-FFF2-40B4-BE49-F238E27FC236}">
                              <a16:creationId xmlns:a16="http://schemas.microsoft.com/office/drawing/2014/main" id="{65AA1F1C-E348-B4D2-2EE9-D84BC3F0A74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026399" y="2109563"/>
                          <a:ext cx="4407351" cy="2114612"/>
                          <a:chOff x="8043333" y="2061964"/>
                          <a:chExt cx="4407351" cy="2114612"/>
                        </a:xfrm>
                      </p:grpSpPr>
                      <p:sp>
                        <p:nvSpPr>
                          <p:cNvPr id="29" name="文字方塊 28">
                            <a:extLst>
                              <a:ext uri="{FF2B5EF4-FFF2-40B4-BE49-F238E27FC236}">
                                <a16:creationId xmlns:a16="http://schemas.microsoft.com/office/drawing/2014/main" id="{6D237673-03FA-E70C-A3DE-FFB66748855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1098342" y="2061964"/>
                            <a:ext cx="1352342" cy="646331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chemeClr val="accent1">
                                  <a:lumMod val="5000"/>
                                  <a:lumOff val="95000"/>
                                </a:schemeClr>
                              </a:gs>
                              <a:gs pos="74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83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n>
                            <a:solidFill>
                              <a:schemeClr val="accent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altLang="zh-TW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Can Repeat</a:t>
                            </a:r>
                          </a:p>
                          <a:p>
                            <a:r>
                              <a:rPr lang="en-US" altLang="zh-TW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Many Times</a:t>
                            </a:r>
                            <a:endParaRPr lang="zh-TW" alt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30" name="矩形 29">
                            <a:extLst>
                              <a:ext uri="{FF2B5EF4-FFF2-40B4-BE49-F238E27FC236}">
                                <a16:creationId xmlns:a16="http://schemas.microsoft.com/office/drawing/2014/main" id="{A7E9D9F4-7A88-40EC-D336-5FB1A7BAC4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43333" y="2467939"/>
                            <a:ext cx="2556934" cy="1708637"/>
                          </a:xfrm>
                          <a:prstGeom prst="rect">
                            <a:avLst/>
                          </a:prstGeom>
                          <a:noFill/>
                          <a:ln w="25400">
                            <a:prstDash val="dash"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TW" altLang="en-US"/>
                          </a:p>
                        </p:txBody>
                      </p:sp>
                      <p:cxnSp>
                        <p:nvCxnSpPr>
                          <p:cNvPr id="31" name="直線接點 30">
                            <a:extLst>
                              <a:ext uri="{FF2B5EF4-FFF2-40B4-BE49-F238E27FC236}">
                                <a16:creationId xmlns:a16="http://schemas.microsoft.com/office/drawing/2014/main" id="{6B19FDC9-967A-E589-BAE0-38ABDA1E88F9}"/>
                              </a:ext>
                            </a:extLst>
                          </p:cNvPr>
                          <p:cNvCxnSpPr>
                            <a:cxnSpLocks/>
                            <a:endCxn id="19" idx="1"/>
                          </p:cNvCxnSpPr>
                          <p:nvPr/>
                        </p:nvCxnSpPr>
                        <p:spPr>
                          <a:xfrm flipV="1">
                            <a:off x="10603888" y="2385130"/>
                            <a:ext cx="494454" cy="276998"/>
                          </a:xfrm>
                          <a:prstGeom prst="line">
                            <a:avLst/>
                          </a:prstGeom>
                          <a:ln w="25400">
                            <a:solidFill>
                              <a:schemeClr val="bg1">
                                <a:lumMod val="50000"/>
                              </a:schemeClr>
                            </a:solidFill>
                            <a:prstDash val="das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28" name="文字方塊 27">
                          <a:extLst>
                            <a:ext uri="{FF2B5EF4-FFF2-40B4-BE49-F238E27FC236}">
                              <a16:creationId xmlns:a16="http://schemas.microsoft.com/office/drawing/2014/main" id="{B6BFE709-153E-5FCF-F516-EEE178605C2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1013702" y="4497248"/>
                          <a:ext cx="1005403" cy="369332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chemeClr val="accent1">
                                <a:lumMod val="5000"/>
                                <a:lumOff val="95000"/>
                              </a:schemeClr>
                            </a:gs>
                            <a:gs pos="74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83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30000"/>
                                <a:lumOff val="70000"/>
                              </a:schemeClr>
                            </a:gs>
                          </a:gsLst>
                          <a:lin ang="5400000" scaled="1"/>
                        </a:gradFill>
                        <a:ln>
                          <a:solidFill>
                            <a:schemeClr val="accent1"/>
                          </a:solidFill>
                        </a:ln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Example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  <p:sp>
                    <p:nvSpPr>
                      <p:cNvPr id="24" name="文字方塊 23">
                        <a:extLst>
                          <a:ext uri="{FF2B5EF4-FFF2-40B4-BE49-F238E27FC236}">
                            <a16:creationId xmlns:a16="http://schemas.microsoft.com/office/drawing/2014/main" id="{2EFBFEB8-96D9-26D2-9DF0-A15CE3891EA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096000" y="6018362"/>
                        <a:ext cx="829733" cy="369332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solidFill>
                          <a:schemeClr val="accent1"/>
                        </a:solidFill>
                      </a:ln>
                    </p:spPr>
                    <p:txBody>
                      <a:bodyPr wrap="square" lIns="91440" tIns="45720" rIns="91440" bIns="45720" rtlCol="0" anchor="t">
                        <a:spAutoFit/>
                      </a:bodyPr>
                      <a:lstStyle/>
                      <a:p>
                        <a:r>
                          <a:rPr lang="en-US" altLang="zh-TW" dirty="0">
                            <a:latin typeface="Times New Roman"/>
                            <a:ea typeface="新細明體"/>
                            <a:cs typeface="Times New Roman"/>
                          </a:rPr>
                          <a:t>Flatten</a:t>
                        </a:r>
                        <a:endParaRPr lang="zh-TW" altLang="en-US">
                          <a:latin typeface="Times New Roman"/>
                          <a:ea typeface="新細明體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25" name="箭號: 向左 24">
                        <a:extLst>
                          <a:ext uri="{FF2B5EF4-FFF2-40B4-BE49-F238E27FC236}">
                            <a16:creationId xmlns:a16="http://schemas.microsoft.com/office/drawing/2014/main" id="{14C31564-FE5A-8C72-652D-6C8E479E84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48535" y="5921495"/>
                        <a:ext cx="515762" cy="563066"/>
                      </a:xfrm>
                      <a:prstGeom prst="leftArrow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</p:grpSp>
                <p:sp>
                  <p:nvSpPr>
                    <p:cNvPr id="22" name="箭號: 向左 21">
                      <a:extLst>
                        <a:ext uri="{FF2B5EF4-FFF2-40B4-BE49-F238E27FC236}">
                          <a16:creationId xmlns:a16="http://schemas.microsoft.com/office/drawing/2014/main" id="{00E35587-F4EC-E740-0649-4EC04FCF62C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252985" y="5312320"/>
                      <a:ext cx="515762" cy="563066"/>
                    </a:xfrm>
                    <a:prstGeom prst="leftArrow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0C3837DA-66C1-63EA-A88A-1A15C51A6BFF}"/>
                      </a:ext>
                    </a:extLst>
                  </p:cNvPr>
                  <p:cNvGrpSpPr/>
                  <p:nvPr/>
                </p:nvGrpSpPr>
                <p:grpSpPr>
                  <a:xfrm>
                    <a:off x="3025611" y="1925160"/>
                    <a:ext cx="2611936" cy="3138326"/>
                    <a:chOff x="3025611" y="1925160"/>
                    <a:chExt cx="2611936" cy="3138326"/>
                  </a:xfrm>
                </p:grpSpPr>
                <p:grpSp>
                  <p:nvGrpSpPr>
                    <p:cNvPr id="16" name="群組 15">
                      <a:extLst>
                        <a:ext uri="{FF2B5EF4-FFF2-40B4-BE49-F238E27FC236}">
                          <a16:creationId xmlns:a16="http://schemas.microsoft.com/office/drawing/2014/main" id="{8F9F0B7F-7341-22DB-F84F-51FFBA354E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25611" y="2637961"/>
                      <a:ext cx="2611936" cy="2425525"/>
                      <a:chOff x="3977854" y="2644405"/>
                      <a:chExt cx="3199130" cy="3502066"/>
                    </a:xfrm>
                  </p:grpSpPr>
                  <p:pic>
                    <p:nvPicPr>
                      <p:cNvPr id="19" name="圖片 18">
                        <a:extLst>
                          <a:ext uri="{FF2B5EF4-FFF2-40B4-BE49-F238E27FC236}">
                            <a16:creationId xmlns:a16="http://schemas.microsoft.com/office/drawing/2014/main" id="{26C3C5A6-EA72-78AE-7BE5-CB47016E6EB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 rot="16200000">
                        <a:off x="4533489" y="3502976"/>
                        <a:ext cx="3502066" cy="1784924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20" name="文字方塊 19">
                        <a:extLst>
                          <a:ext uri="{FF2B5EF4-FFF2-40B4-BE49-F238E27FC236}">
                            <a16:creationId xmlns:a16="http://schemas.microsoft.com/office/drawing/2014/main" id="{7D3CC2C0-E581-BF2D-19C5-8432D8A5938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77854" y="4120906"/>
                        <a:ext cx="2724103" cy="933197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  <p:txBody>
                      <a:bodyPr wrap="square" lIns="91440" tIns="45720" rIns="91440" bIns="45720" rtlCol="0" anchor="t">
                        <a:spAutoFit/>
                      </a:bodyPr>
                      <a:lstStyle/>
                      <a:p>
                        <a:r>
                          <a:rPr lang="en-US" altLang="zh-TW" dirty="0">
                            <a:latin typeface="Times New Roman"/>
                            <a:ea typeface="新細明體"/>
                            <a:cs typeface="Times New Roman"/>
                          </a:rPr>
                          <a:t>Fully Connected</a:t>
                        </a:r>
                      </a:p>
                      <a:p>
                        <a:r>
                          <a:rPr lang="en-US" altLang="zh-TW" dirty="0">
                            <a:latin typeface="Times New Roman"/>
                            <a:ea typeface="新細明體"/>
                            <a:cs typeface="Times New Roman"/>
                          </a:rPr>
                          <a:t>Feedforward Network</a:t>
                        </a:r>
                        <a:endParaRPr lang="zh-TW" altLang="en-US">
                          <a:latin typeface="Times New Roman"/>
                          <a:ea typeface="新細明體"/>
                          <a:cs typeface="Times New Roman"/>
                        </a:endParaRPr>
                      </a:p>
                    </p:txBody>
                  </p:sp>
                </p:grpSp>
                <p:sp>
                  <p:nvSpPr>
                    <p:cNvPr id="17" name="文字方塊 16">
                      <a:extLst>
                        <a:ext uri="{FF2B5EF4-FFF2-40B4-BE49-F238E27FC236}">
                          <a16:creationId xmlns:a16="http://schemas.microsoft.com/office/drawing/2014/main" id="{369735FF-DECD-EF65-61C9-41C5BC8DDD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95048" y="2236407"/>
                      <a:ext cx="995225" cy="369332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p:spPr>
                  <p:txBody>
                    <a:bodyPr wrap="square" lIns="91440" tIns="45720" rIns="91440" bIns="45720" rtlCol="0" anchor="t">
                      <a:spAutoFit/>
                    </a:bodyPr>
                    <a:lstStyle/>
                    <a:p>
                      <a:r>
                        <a:rPr lang="en-US" altLang="zh-TW" dirty="0" err="1">
                          <a:latin typeface="Times New Roman"/>
                          <a:ea typeface="新細明體"/>
                          <a:cs typeface="Times New Roman"/>
                        </a:rPr>
                        <a:t>Softmax</a:t>
                      </a:r>
                      <a:endParaRPr lang="zh-TW" altLang="en-US">
                        <a:latin typeface="Times New Roman"/>
                        <a:ea typeface="新細明體"/>
                        <a:cs typeface="Times New Roman"/>
                      </a:endParaRPr>
                    </a:p>
                  </p:txBody>
                </p:sp>
                <p:pic>
                  <p:nvPicPr>
                    <p:cNvPr id="18" name="圖片 17">
                      <a:extLst>
                        <a:ext uri="{FF2B5EF4-FFF2-40B4-BE49-F238E27FC236}">
                          <a16:creationId xmlns:a16="http://schemas.microsoft.com/office/drawing/2014/main" id="{12E958DC-48F8-B571-97EA-929E640FE2A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 rot="16200000">
                      <a:off x="4881930" y="1641792"/>
                      <a:ext cx="285749" cy="852486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01EDBFFD-27CB-904A-CEF2-827B76A74445}"/>
                    </a:ext>
                  </a:extLst>
                </p:cNvPr>
                <p:cNvSpPr txBox="1"/>
                <p:nvPr/>
              </p:nvSpPr>
              <p:spPr>
                <a:xfrm>
                  <a:off x="3910539" y="1987002"/>
                  <a:ext cx="864339" cy="369332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t">
                  <a:spAutoFit/>
                </a:bodyPr>
                <a:lstStyle/>
                <a:p>
                  <a:r>
                    <a:rPr lang="en-US" altLang="zh-TW" dirty="0">
                      <a:latin typeface="Times New Roman"/>
                      <a:ea typeface="新細明體"/>
                      <a:cs typeface="Times New Roman"/>
                    </a:rPr>
                    <a:t>outputs</a:t>
                  </a:r>
                  <a:endParaRPr lang="zh-TW" altLang="en-US">
                    <a:latin typeface="Times New Roman"/>
                    <a:ea typeface="新細明體"/>
                    <a:cs typeface="Times New Roman"/>
                  </a:endParaRPr>
                </a:p>
              </p:txBody>
            </p:sp>
          </p:grp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15EF619-A359-9202-BACB-A6F4995C57AF}"/>
                  </a:ext>
                </a:extLst>
              </p:cNvPr>
              <p:cNvSpPr txBox="1"/>
              <p:nvPr/>
            </p:nvSpPr>
            <p:spPr>
              <a:xfrm>
                <a:off x="6218895" y="3429000"/>
                <a:ext cx="2037737" cy="36933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rgbClr val="FF0000"/>
                </a:solidFill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en-US" altLang="zh-TW" dirty="0">
                    <a:latin typeface="Times New Roman"/>
                    <a:ea typeface="新細明體"/>
                    <a:cs typeface="Times New Roman"/>
                  </a:rPr>
                  <a:t>Activation Function</a:t>
                </a:r>
              </a:p>
            </p:txBody>
          </p:sp>
        </p:grp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C489D3B6-7F60-4B60-C461-5A6F65200FD3}"/>
                </a:ext>
              </a:extLst>
            </p:cNvPr>
            <p:cNvSpPr txBox="1"/>
            <p:nvPr/>
          </p:nvSpPr>
          <p:spPr>
            <a:xfrm>
              <a:off x="6202387" y="5658179"/>
              <a:ext cx="2037737" cy="369332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Activation Function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6690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B91FB9-9021-89E0-0FD8-4F970689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Microsoft JhengHei"/>
                <a:ea typeface="Microsoft JhengHei"/>
                <a:cs typeface="Times New Roman"/>
              </a:rPr>
              <a:t>聯邦學習</a:t>
            </a:r>
            <a:r>
              <a:rPr lang="en-US" altLang="zh-TW" dirty="0">
                <a:latin typeface="Microsoft JhengHei"/>
                <a:ea typeface="Microsoft JhengHei"/>
                <a:cs typeface="Times New Roman"/>
              </a:rPr>
              <a:t>(</a:t>
            </a:r>
            <a:r>
              <a:rPr lang="en-US" dirty="0">
                <a:latin typeface="Microsoft JhengHei"/>
                <a:ea typeface="Microsoft JhengHei"/>
                <a:cs typeface="+mj-lt"/>
              </a:rPr>
              <a:t>Federated Learning</a:t>
            </a:r>
            <a:r>
              <a:rPr lang="en-US" altLang="zh-TW" dirty="0">
                <a:latin typeface="Microsoft JhengHei"/>
                <a:ea typeface="Microsoft JhengHei"/>
                <a:cs typeface="Times New Roman"/>
              </a:rPr>
              <a:t>)</a:t>
            </a:r>
            <a:endParaRPr lang="zh-TW" altLang="en-US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0C01E0-A2F3-6747-2CB7-9B05CAB11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Microsoft JhengHei"/>
                <a:ea typeface="Microsoft JhengHei"/>
                <a:cs typeface="Times New Roman"/>
              </a:rPr>
              <a:t>集合各Client的資料</a:t>
            </a:r>
            <a:r>
              <a:rPr lang="en-US" dirty="0">
                <a:latin typeface="Calibri"/>
                <a:ea typeface="Calibri"/>
                <a:cs typeface="Calibri"/>
              </a:rPr>
              <a:t>。</a:t>
            </a:r>
            <a:endParaRPr lang="en-US" altLang="zh-TW" dirty="0" err="1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ea typeface="+mn-lt"/>
                <a:cs typeface="+mn-lt"/>
              </a:rPr>
              <a:t>Server </a:t>
            </a:r>
            <a:r>
              <a:rPr lang="en-US" dirty="0" err="1">
                <a:ea typeface="+mn-lt"/>
                <a:cs typeface="+mn-lt"/>
              </a:rPr>
              <a:t>將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各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 Client 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的模型依資料量加權平均</a:t>
            </a:r>
            <a:r>
              <a:rPr lang="en-US" dirty="0" err="1">
                <a:ea typeface="+mn-lt"/>
                <a:cs typeface="+mn-lt"/>
              </a:rPr>
              <a:t>，形成新的</a:t>
            </a:r>
            <a:r>
              <a:rPr lang="en-US" dirty="0">
                <a:ea typeface="+mn-lt"/>
                <a:cs typeface="+mn-lt"/>
              </a:rPr>
              <a:t> Global Model。</a:t>
            </a:r>
            <a:endParaRPr lang="en-US" altLang="zh-TW" dirty="0">
              <a:ea typeface="+mn-lt"/>
              <a:cs typeface="+mn-lt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sz="2000" dirty="0">
                <a:latin typeface="Calibri"/>
                <a:ea typeface="Calibri"/>
                <a:cs typeface="Calibri"/>
              </a:rPr>
              <a:t>Global Model =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FedaAvg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Example : 以這次實作的</a:t>
            </a:r>
            <a:r>
              <a:rPr 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MNIST</a:t>
            </a:r>
            <a:r>
              <a:rPr lang="zh-TW" altLang="en-US" sz="2000" b="1" dirty="0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數據集為例</a:t>
            </a:r>
            <a:endParaRPr 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將60000張圖切成5個Client，每個Client有12000張圖</a:t>
            </a: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每個Client做Local Training，訓練出一個模型</a:t>
            </a: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最後將這5個Model做平均就獲得Global Model</a:t>
            </a: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7030A0"/>
                </a:solidFill>
                <a:latin typeface="Microsoft JhengHei"/>
                <a:ea typeface="Microsoft JhengHei"/>
                <a:cs typeface="Calibri"/>
              </a:rPr>
              <a:t>思考 : 如果是真實世界，各醫療機構有其資料，每個機構資料量不一樣，分別訓練出一個模型，最後</a:t>
            </a:r>
            <a:r>
              <a:rPr lang="zh-TW" sz="2000" b="1">
                <a:solidFill>
                  <a:srgbClr val="7030A0"/>
                </a:solidFill>
                <a:latin typeface="Microsoft JhengHei"/>
                <a:ea typeface="Microsoft JhengHei"/>
                <a:cs typeface="+mn-lt"/>
              </a:rPr>
              <a:t>衛生福利部</a:t>
            </a:r>
            <a:r>
              <a:rPr lang="zh-TW" altLang="en-US" sz="2000" b="1">
                <a:solidFill>
                  <a:srgbClr val="7030A0"/>
                </a:solidFill>
                <a:latin typeface="Microsoft JhengHei"/>
                <a:ea typeface="Microsoft JhengHei"/>
                <a:cs typeface="Calibri"/>
              </a:rPr>
              <a:t>把每個機構的模型集中起來作加權平均，就可以獲得Global Model</a:t>
            </a: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B3CCDE7-B56B-28F7-38E8-F45640774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054" y="2618466"/>
            <a:ext cx="1842408" cy="109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5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432A-8569-32D4-4D94-16096326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38A4E0-307E-E238-FAAD-E87E1D32B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Microsoft JhengHei"/>
                <a:ea typeface="Microsoft JhengHei"/>
                <a:cs typeface="Times New Roman"/>
              </a:rPr>
              <a:t>聯邦學習</a:t>
            </a:r>
            <a:r>
              <a:rPr lang="en-US" altLang="zh-TW" dirty="0">
                <a:latin typeface="Microsoft JhengHei"/>
                <a:ea typeface="Microsoft JhengHei"/>
                <a:cs typeface="Times New Roman"/>
              </a:rPr>
              <a:t>(</a:t>
            </a:r>
            <a:r>
              <a:rPr lang="en-US" dirty="0">
                <a:latin typeface="Microsoft JhengHei"/>
                <a:ea typeface="Microsoft JhengHei"/>
                <a:cs typeface="+mj-lt"/>
              </a:rPr>
              <a:t>Federated Learning</a:t>
            </a:r>
            <a:r>
              <a:rPr lang="en-US" altLang="zh-TW" dirty="0">
                <a:latin typeface="Microsoft JhengHei"/>
                <a:ea typeface="Microsoft JhengHei"/>
                <a:cs typeface="Times New Roman"/>
              </a:rPr>
              <a:t>)</a:t>
            </a:r>
            <a:endParaRPr lang="zh-TW" altLang="en-US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77B14D-30AE-978B-7FF0-6226E6F3A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Microsoft JhengHei"/>
                <a:ea typeface="Microsoft JhengHei"/>
                <a:cs typeface="Times New Roman"/>
              </a:rPr>
              <a:t>集合各Client的資料</a:t>
            </a:r>
            <a:r>
              <a:rPr lang="en-US" dirty="0">
                <a:latin typeface="Calibri"/>
                <a:ea typeface="Calibri"/>
                <a:cs typeface="Calibri"/>
              </a:rPr>
              <a:t>。</a:t>
            </a:r>
            <a:endParaRPr lang="en-US" altLang="zh-TW" dirty="0" err="1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ea typeface="+mn-lt"/>
                <a:cs typeface="+mn-lt"/>
              </a:rPr>
              <a:t>Server </a:t>
            </a:r>
            <a:r>
              <a:rPr lang="en-US" dirty="0" err="1">
                <a:ea typeface="+mn-lt"/>
                <a:cs typeface="+mn-lt"/>
              </a:rPr>
              <a:t>將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各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 Client 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的模型依資料量加權平均</a:t>
            </a:r>
            <a:r>
              <a:rPr lang="en-US" dirty="0" err="1">
                <a:ea typeface="+mn-lt"/>
                <a:cs typeface="+mn-lt"/>
              </a:rPr>
              <a:t>，形成新的</a:t>
            </a:r>
            <a:r>
              <a:rPr lang="en-US" dirty="0">
                <a:ea typeface="+mn-lt"/>
                <a:cs typeface="+mn-lt"/>
              </a:rPr>
              <a:t> Global Model。</a:t>
            </a:r>
            <a:endParaRPr lang="en-US" altLang="zh-TW" dirty="0">
              <a:ea typeface="+mn-lt"/>
              <a:cs typeface="+mn-lt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sz="2000" dirty="0">
                <a:latin typeface="Calibri"/>
                <a:ea typeface="Calibri"/>
                <a:cs typeface="Calibri"/>
              </a:rPr>
              <a:t>Global Model =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FedaAvg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Example : 以這次實作的</a:t>
            </a:r>
            <a:r>
              <a:rPr 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MNIST</a:t>
            </a:r>
            <a:r>
              <a:rPr lang="zh-TW" altLang="en-US" sz="2000" b="1" dirty="0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數據集為例</a:t>
            </a:r>
            <a:endParaRPr 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將60000張圖切成5個Client，每個Client有12000張圖</a:t>
            </a: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每個Client做Local Training，訓練出一個模型</a:t>
            </a: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0070C0"/>
                </a:solidFill>
                <a:latin typeface="Microsoft JhengHei"/>
                <a:ea typeface="Microsoft JhengHei"/>
                <a:cs typeface="Calibri"/>
              </a:rPr>
              <a:t>最後將這5個Model做平均就獲得Global Model</a:t>
            </a: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r>
              <a:rPr lang="zh-TW" altLang="en-US" sz="2000" b="1">
                <a:solidFill>
                  <a:srgbClr val="7030A0"/>
                </a:solidFill>
                <a:latin typeface="Microsoft JhengHei"/>
                <a:ea typeface="Microsoft JhengHei"/>
                <a:cs typeface="Calibri"/>
              </a:rPr>
              <a:t>思考 : 如果是真實世界，各醫療機構有其資料，每個機構資料量不一樣，分別訓練出一個模型，最後</a:t>
            </a:r>
            <a:r>
              <a:rPr lang="zh-TW" sz="2000" b="1">
                <a:solidFill>
                  <a:srgbClr val="7030A0"/>
                </a:solidFill>
                <a:latin typeface="Microsoft JhengHei"/>
                <a:ea typeface="Microsoft JhengHei"/>
                <a:cs typeface="+mn-lt"/>
              </a:rPr>
              <a:t>衛生福利部</a:t>
            </a:r>
            <a:r>
              <a:rPr lang="zh-TW" altLang="en-US" sz="2000" b="1">
                <a:solidFill>
                  <a:srgbClr val="7030A0"/>
                </a:solidFill>
                <a:latin typeface="Microsoft JhengHei"/>
                <a:ea typeface="Microsoft JhengHei"/>
                <a:cs typeface="Calibri"/>
              </a:rPr>
              <a:t>把每個機構的模型集中起來作加權平均，就可以獲得Global Model</a:t>
            </a: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A7F2528-BF25-D02C-B344-2DB8BB9CD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054" y="2618466"/>
            <a:ext cx="1842408" cy="109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31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7B3C3-29E6-41F7-A783-44676BB6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5109CB-3BE0-FF38-D7E2-A1FE8CFD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Microsoft JhengHei"/>
                <a:ea typeface="Microsoft JhengHei"/>
                <a:cs typeface="Times New Roman"/>
              </a:rPr>
              <a:t>Performance(1/5)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C25DCD-EB6B-3F0B-7AE0-8283A8F61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>
                <a:latin typeface="Microsoft JhengHei"/>
                <a:ea typeface="Microsoft JhengHei"/>
                <a:cs typeface="Times New Roman"/>
              </a:rPr>
              <a:t>Global Accuracy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zh-TW" alt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4EDD99-AA59-4CB3-8BB7-877B94860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094" y="2274888"/>
            <a:ext cx="8173811" cy="442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044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1AB56-3F22-C838-D937-6F7333D4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C7C8C3-1A5B-0D71-9BD6-9575072A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Microsoft JhengHei"/>
                <a:ea typeface="Microsoft JhengHei"/>
                <a:cs typeface="Times New Roman"/>
              </a:rPr>
              <a:t>Performance(2/5)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A45D3E-7D0F-4AAD-9E82-4A9B99DD1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>
                <a:latin typeface="Microsoft JhengHei"/>
                <a:ea typeface="Microsoft JhengHei"/>
                <a:cs typeface="Times New Roman"/>
              </a:rPr>
              <a:t>Average Client Accuracy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zh-TW" alt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6DB938B-9EF2-B6E0-DC83-FFF96A1B2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31" y="2281691"/>
            <a:ext cx="8317139" cy="443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4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7A601-A1DE-E3CF-6D54-AAE07541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158E4C-A576-7BE5-B4E2-5C0B5640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Microsoft JhengHei"/>
                <a:ea typeface="Microsoft JhengHei"/>
                <a:cs typeface="Times New Roman"/>
              </a:rPr>
              <a:t>Performance(3/5)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2BD4B6-C8F4-8082-A3F2-6EDDA5AF7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>
                <a:latin typeface="Microsoft JhengHei"/>
                <a:ea typeface="Microsoft JhengHei"/>
                <a:cs typeface="Times New Roman"/>
              </a:rPr>
              <a:t>Global Loss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zh-TW" alt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5ECAF1A-FCDD-6D71-B6AE-0C6DB8105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582" y="2185081"/>
            <a:ext cx="8312150" cy="453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085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15330-8F61-4A41-DF0C-61179D0A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0E8181-CBD8-FAF2-0967-476BB117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Microsoft JhengHei"/>
                <a:ea typeface="Microsoft JhengHei"/>
                <a:cs typeface="Times New Roman"/>
              </a:rPr>
              <a:t>Performance(4/5)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DF91DC-D402-9560-0B18-E22B215AD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>
                <a:latin typeface="Microsoft JhengHei"/>
                <a:ea typeface="Microsoft JhengHei"/>
                <a:cs typeface="Times New Roman"/>
              </a:rPr>
              <a:t>Centralized vs Federated Learning</a:t>
            </a:r>
            <a:r>
              <a:rPr lang="en-US" altLang="zh-TW" dirty="0">
                <a:latin typeface="Microsoft JhengHei"/>
                <a:ea typeface="Microsoft JhengHei"/>
                <a:cs typeface="Times New Roman"/>
              </a:rPr>
              <a:t> Accuracy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zh-TW" alt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34F9D75-B878-7E5C-2A8E-8AAC696DD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674" y="2219551"/>
            <a:ext cx="7747908" cy="449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09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1113-B40C-6BAB-7085-AB94F28E4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8AE753-EC8B-E213-98A3-CFA9C499B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Microsoft JhengHei"/>
                <a:ea typeface="Microsoft JhengHei"/>
                <a:cs typeface="Times New Roman"/>
              </a:rPr>
              <a:t>Performance(5/5)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EC937E-F8C4-4A0B-E017-9D47FBFD4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>
                <a:latin typeface="Microsoft JhengHei"/>
                <a:ea typeface="Microsoft JhengHei"/>
                <a:cs typeface="Times New Roman"/>
              </a:rPr>
              <a:t>Centralized vs Federated Learning Loss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/>
          </a:p>
          <a:p>
            <a:pPr marL="0" indent="0">
              <a:buFont typeface="Calibri" panose="020F0502020204030204" pitchFamily="34" charset="0"/>
              <a:buNone/>
            </a:pPr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zh-TW" altLang="en-US" sz="2000" b="1" dirty="0">
              <a:solidFill>
                <a:srgbClr val="0070C0"/>
              </a:solidFill>
              <a:latin typeface="Microsoft JhengHei"/>
              <a:ea typeface="Microsoft JhengHei"/>
              <a:cs typeface="Calibri"/>
            </a:endParaRPr>
          </a:p>
          <a:p>
            <a:pPr marL="566420" lvl="2">
              <a:buFont typeface="Wingdings" panose="05000000000000000000" pitchFamily="2" charset="2"/>
              <a:buChar char="§"/>
            </a:pPr>
            <a:endParaRPr lang="zh-TW" altLang="en-US" sz="2000" dirty="0">
              <a:latin typeface="Calibri"/>
              <a:ea typeface="標楷體" panose="03000509000000000000" pitchFamily="65" charset="-120"/>
              <a:cs typeface="Calibri"/>
            </a:endParaRPr>
          </a:p>
          <a:p>
            <a:pPr lvl="1">
              <a:buFont typeface="Wingdings" panose="05000000000000000000" pitchFamily="2" charset="2"/>
              <a:buChar char="u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75FB0E-C4F7-4A58-C686-EAE7C74CC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2168750"/>
            <a:ext cx="7752443" cy="454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30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EFE64-B6C3-EEA9-87D4-00D04A71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9DB08-F528-7BD7-5B41-8EF6368C8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Microsoft JhengHei"/>
                <a:ea typeface="Microsoft JhengHei"/>
                <a:cs typeface="Times New Roman"/>
              </a:rPr>
              <a:t>Centralized vs Federated Learning</a:t>
            </a:r>
            <a:br>
              <a:rPr lang="en-US" dirty="0">
                <a:latin typeface="Microsoft JhengHei"/>
                <a:ea typeface="Microsoft JhengHei"/>
                <a:cs typeface="Times New Roman"/>
              </a:rPr>
            </a:br>
            <a:r>
              <a:rPr lang="en-US" dirty="0" err="1">
                <a:latin typeface="Microsoft JhengHei"/>
                <a:ea typeface="Microsoft JhengHei"/>
                <a:cs typeface="Times New Roman"/>
              </a:rPr>
              <a:t>整理表格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FE3352-0641-B589-A83A-A37F7763B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endParaRPr lang="en-US" sz="2000" dirty="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sz="2000" dirty="0">
              <a:latin typeface="Microsoft JhengHei"/>
              <a:ea typeface="Microsoft JhengHei"/>
              <a:cs typeface="Times New Roman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C1AA0E3-010E-EF71-4D01-82F4F901F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764037"/>
              </p:ext>
            </p:extLst>
          </p:nvPr>
        </p:nvGraphicFramePr>
        <p:xfrm>
          <a:off x="2040709" y="1941576"/>
          <a:ext cx="815856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120">
                  <a:extLst>
                    <a:ext uri="{9D8B030D-6E8A-4147-A177-3AD203B41FA5}">
                      <a16:colId xmlns:a16="http://schemas.microsoft.com/office/drawing/2014/main" val="2484895747"/>
                    </a:ext>
                  </a:extLst>
                </a:gridCol>
                <a:gridCol w="2820629">
                  <a:extLst>
                    <a:ext uri="{9D8B030D-6E8A-4147-A177-3AD203B41FA5}">
                      <a16:colId xmlns:a16="http://schemas.microsoft.com/office/drawing/2014/main" val="2626017978"/>
                    </a:ext>
                  </a:extLst>
                </a:gridCol>
                <a:gridCol w="3300811">
                  <a:extLst>
                    <a:ext uri="{9D8B030D-6E8A-4147-A177-3AD203B41FA5}">
                      <a16:colId xmlns:a16="http://schemas.microsoft.com/office/drawing/2014/main" val="3569390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b="1">
                          <a:latin typeface="Microsoft JhengHei"/>
                          <a:ea typeface="Microsoft JhengHei"/>
                        </a:rPr>
                        <a:t>項目</a:t>
                      </a:r>
                      <a:endParaRPr lang="zh-TW" b="1" dirty="0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i="0" u="none" strike="noStrike" noProof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Centralized</a:t>
                      </a:r>
                      <a:r>
                        <a:rPr lang="zh-TW" altLang="en-US" sz="1800" b="1" i="0" u="none" strike="noStrike" noProof="0" dirty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 </a:t>
                      </a:r>
                      <a:r>
                        <a:rPr lang="en-US" altLang="zh-TW" sz="1800" b="1" i="0" u="none" strike="noStrike" noProof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Learning</a:t>
                      </a:r>
                      <a:endParaRPr lang="zh-TW" altLang="en-US" sz="1800" b="1" i="0" u="none" strike="noStrike" noProof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>
                          <a:latin typeface="Microsoft JhengHei"/>
                          <a:ea typeface="Microsoft JhengHei"/>
                        </a:rPr>
                        <a:t>Federated Learning</a:t>
                      </a:r>
                      <a:endParaRPr lang="zh-TW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788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資料位置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集中於 Server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保留在各 Client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077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模型訓練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Server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各 Client 本地訓練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480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模型聚合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不需要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需要 FedAvg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92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通訊成本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幾乎沒有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Upload + Download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6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訓練時間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>
                          <a:latin typeface="Microsoft JhengHei"/>
                          <a:ea typeface="Microsoft JhengHei"/>
                        </a:rPr>
                        <a:t>較短</a:t>
                      </a:r>
                      <a:endParaRPr lang="zh-TW" altLang="en-US" dirty="0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Microsoft JhengHei"/>
                          <a:ea typeface="Microsoft JhengHei"/>
                        </a:rPr>
                        <a:t>較長</a:t>
                      </a:r>
                      <a:endParaRPr lang="zh-TW" altLang="en-US" dirty="0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80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1" i="0" u="none" strike="noStrike" noProof="0">
                          <a:solidFill>
                            <a:srgbClr val="FF0000"/>
                          </a:solidFill>
                        </a:rPr>
                        <a:t>隱私保護</a:t>
                      </a:r>
                      <a:endParaRPr lang="zh-TW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 b="1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較差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</a:rPr>
                        <a:t>較佳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96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sz="1800" b="0" i="0" u="none" strike="noStrike" noProof="0"/>
                        <a:t>可擴展性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>
                          <a:latin typeface="Microsoft JhengHei"/>
                          <a:ea typeface="Microsoft JhengHei"/>
                        </a:rPr>
                        <a:t>低</a:t>
                      </a:r>
                      <a:endParaRPr lang="zh-TW" altLang="en-US" dirty="0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Microsoft JhengHei"/>
                          <a:ea typeface="Microsoft JhengHei"/>
                        </a:rPr>
                        <a:t>高</a:t>
                      </a:r>
                      <a:endParaRPr lang="zh-TW" altLang="en-US" dirty="0">
                        <a:latin typeface="Microsoft JhengHei"/>
                        <a:ea typeface="Microsoft Jheng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934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156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92D68D-D243-2167-4E75-2111FDF8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總結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7A46B5-FF69-C0C6-B14C-8F0ACBC5E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2192"/>
            <a:ext cx="10058400" cy="4451530"/>
          </a:xfrm>
        </p:spPr>
        <p:txBody>
          <a:bodyPr vert="horz" lIns="0" tIns="45720" rIns="0" bIns="45720" rtlCol="0" anchor="t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>
                <a:latin typeface="Microsoft JhengHei"/>
                <a:ea typeface="Microsoft JhengHei"/>
                <a:cs typeface="Times New Roman"/>
              </a:rPr>
              <a:t>本次專題</a:t>
            </a:r>
            <a:endParaRPr lang="en-US" altLang="zh-TW">
              <a:latin typeface="Microsoft JhengHei"/>
              <a:ea typeface="Microsoft JhengHei"/>
              <a:cs typeface="Times New Roman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完成 MNIS</a:t>
            </a:r>
            <a:r>
              <a:rPr lang="en-US" altLang="zh-TW" sz="2000">
                <a:latin typeface="Microsoft JhengHei"/>
                <a:ea typeface="Microsoft JhengHei"/>
                <a:cs typeface="+mn-lt"/>
              </a:rPr>
              <a:t>T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 手寫數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字資料集分析與前處理</a:t>
            </a:r>
            <a:endParaRPr lang="zh-TW" altLang="en-US" sz="200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altLang="en-US" sz="2000">
                <a:latin typeface="Microsoft JhengHei"/>
                <a:ea typeface="Microsoft JhengHei"/>
                <a:cs typeface="+mn-lt"/>
              </a:rPr>
              <a:t>建立卷積神經網路（</a:t>
            </a:r>
            <a:r>
              <a:rPr lang="en-US" altLang="zh-TW" sz="2000">
                <a:latin typeface="Microsoft JhengHei"/>
                <a:ea typeface="Microsoft JhengHei"/>
                <a:cs typeface="+mn-lt"/>
              </a:rPr>
              <a:t>CNN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）影像辨識模型</a:t>
            </a:r>
            <a:endParaRPr lang="zh-TW" altLang="en-US" sz="200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實作聯邦學習（Federated Learning）架構</a:t>
            </a:r>
            <a:endParaRPr lang="zh-TW" sz="200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 dirty="0">
                <a:latin typeface="Microsoft JhengHei"/>
                <a:ea typeface="Microsoft JhengHei"/>
                <a:cs typeface="+mn-lt"/>
              </a:rPr>
              <a:t>使用 </a:t>
            </a:r>
            <a:r>
              <a:rPr lang="en-US" altLang="zh-TW" sz="2000" dirty="0" err="1">
                <a:latin typeface="Microsoft JhengHei"/>
                <a:ea typeface="Microsoft JhengHei"/>
                <a:cs typeface="+mn-lt"/>
              </a:rPr>
              <a:t>FedAvg</a:t>
            </a:r>
            <a:r>
              <a:rPr lang="zh-TW" sz="2000" dirty="0">
                <a:latin typeface="Microsoft JhengHei"/>
                <a:ea typeface="Microsoft JhengHei"/>
                <a:cs typeface="+mn-lt"/>
              </a:rPr>
              <a:t> 完成模型聚合與更新</a:t>
            </a:r>
            <a:endParaRPr lang="zh-TW" sz="2000">
              <a:latin typeface="Microsoft JhengHei"/>
              <a:ea typeface="Microsoft JhengHei"/>
              <a:cs typeface="+mn-lt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altLang="en-US" sz="2000">
                <a:latin typeface="Microsoft JhengHei"/>
                <a:ea typeface="Microsoft JhengHei"/>
                <a:cs typeface="+mn-lt"/>
              </a:rPr>
              <a:t>完成模型效能評估，達到良好的辨識準確率</a:t>
            </a: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altLang="en-US" sz="2000" b="1">
                <a:solidFill>
                  <a:srgbClr val="FF0000"/>
                </a:solidFill>
                <a:latin typeface="Microsoft JhengHei"/>
                <a:ea typeface="Microsoft JhengHei"/>
                <a:cs typeface="Calibri"/>
              </a:rPr>
              <a:t>未來展望 : 該Framework用於需要隱私資料保護的各機構，例如醫療機構</a:t>
            </a:r>
            <a:endParaRPr lang="zh-TW" altLang="en-US" sz="2000" b="1" dirty="0">
              <a:solidFill>
                <a:srgbClr val="FF0000"/>
              </a:solidFill>
              <a:latin typeface="Microsoft JhengHei"/>
              <a:ea typeface="Microsoft JhengHe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latin typeface="Microsoft JhengHei"/>
              <a:ea typeface="Microsoft JhengHei"/>
              <a:cs typeface="Times New Roman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>
                <a:latin typeface="Microsoft JhengHei"/>
                <a:ea typeface="Microsoft JhengHei"/>
                <a:cs typeface="Times New Roman"/>
              </a:rPr>
              <a:t>透過實際的程式實作</a:t>
            </a:r>
            <a:endParaRPr lang="zh-TW"/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熟悉 Python 程式設計與資料分析流程</a:t>
            </a: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學習</a:t>
            </a:r>
            <a:r>
              <a:rPr lang="en-US" altLang="zh-TW" sz="2000">
                <a:latin typeface="Microsoft JhengHei"/>
                <a:ea typeface="Microsoft JhengHei"/>
                <a:cs typeface="+mn-lt"/>
              </a:rPr>
              <a:t>AI</a:t>
            </a:r>
            <a:r>
              <a:rPr lang="zh-TW" sz="2000">
                <a:latin typeface="Microsoft JhengHei"/>
                <a:ea typeface="Microsoft JhengHei"/>
                <a:cs typeface="+mn-lt"/>
              </a:rPr>
              <a:t> 模型建構</a:t>
            </a:r>
            <a:endParaRPr lang="zh-TW" altLang="en-US" sz="2000">
              <a:latin typeface="Microsoft JhengHei"/>
              <a:ea typeface="Microsoft JhengHei"/>
              <a:cs typeface="+mn-lt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sz="2000">
                <a:latin typeface="Microsoft JhengHei"/>
                <a:ea typeface="Microsoft JhengHei"/>
                <a:cs typeface="+mn-lt"/>
              </a:rPr>
              <a:t>閱讀文獻與了解聯邦學習（Federated Learning）的訓練流程</a:t>
            </a: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altLang="en-US" sz="2000">
                <a:latin typeface="Microsoft JhengHei"/>
                <a:ea typeface="Microsoft JhengHei"/>
                <a:cs typeface="+mn-lt"/>
              </a:rPr>
              <a:t>培養 </a:t>
            </a:r>
            <a:r>
              <a:rPr lang="en-US" altLang="zh-TW" sz="2000">
                <a:latin typeface="Microsoft JhengHei"/>
                <a:ea typeface="Microsoft JhengHei"/>
                <a:cs typeface="+mn-lt"/>
              </a:rPr>
              <a:t>AI</a:t>
            </a:r>
            <a:r>
              <a:rPr lang="zh-TW" altLang="en-US" sz="2000">
                <a:latin typeface="Microsoft JhengHei"/>
                <a:ea typeface="Microsoft JhengHei"/>
                <a:cs typeface="+mn-lt"/>
              </a:rPr>
              <a:t> 專案實作與問題分析能力</a:t>
            </a:r>
            <a:endParaRPr lang="zh-TW" altLang="en-US" sz="2000">
              <a:latin typeface="Microsoft JhengHei"/>
              <a:ea typeface="Microsoft JhengHei"/>
              <a:cs typeface="Calibri"/>
            </a:endParaRPr>
          </a:p>
          <a:p>
            <a:pPr marL="383540" lvl="1">
              <a:buFont typeface="Courier New" panose="05000000000000000000" pitchFamily="2" charset="2"/>
              <a:buChar char="o"/>
            </a:pPr>
            <a:r>
              <a:rPr lang="zh-TW" altLang="en-US" sz="2000">
                <a:latin typeface="Microsoft JhengHei"/>
                <a:ea typeface="Microsoft JhengHei"/>
                <a:cs typeface="Calibri"/>
              </a:rPr>
              <a:t>比較不同情況的Performance</a:t>
            </a:r>
            <a:endParaRPr lang="zh-TW" altLang="en-US" sz="2000" dirty="0">
              <a:latin typeface="Microsoft JhengHei"/>
              <a:ea typeface="Microsoft JhengHei"/>
              <a:cs typeface="Calibri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550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AB630-CE0E-28C3-F0CA-38B0592FD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C3A250-2FFE-4987-1B56-7292C6A7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Microsoft JhengHei"/>
                <a:ea typeface="Microsoft JhengHei"/>
              </a:rPr>
              <a:t>心得</a:t>
            </a:r>
            <a:endParaRPr lang="zh-TW" altLang="en-US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964967-6BCB-8788-F793-5A769F8C2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latin typeface="Microsoft JhengHei"/>
                <a:ea typeface="Microsoft JhengHei"/>
                <a:cs typeface="Times New Roman"/>
              </a:rPr>
              <a:t>這次職前訓練從基礎數學</a:t>
            </a:r>
            <a:r>
              <a:rPr lang="zh-TW" dirty="0">
                <a:latin typeface="Microsoft JhengHei"/>
                <a:ea typeface="Microsoft JhengHei"/>
                <a:cs typeface="+mn-lt"/>
              </a:rPr>
              <a:t>、</a:t>
            </a:r>
            <a:r>
              <a:rPr lang="en-US" altLang="zh-TW" dirty="0" err="1">
                <a:latin typeface="Microsoft JhengHei"/>
                <a:ea typeface="Microsoft JhengHei"/>
                <a:cs typeface="+mn-lt"/>
              </a:rPr>
              <a:t>Python程式設計</a:t>
            </a:r>
            <a:r>
              <a:rPr lang="en-US" dirty="0" err="1">
                <a:latin typeface="Microsoft JhengHei"/>
                <a:ea typeface="Microsoft JhengHei"/>
                <a:cs typeface="+mn-lt"/>
              </a:rPr>
              <a:t>、AI</a:t>
            </a:r>
            <a:r>
              <a:rPr lang="zh-TW" altLang="en-US" dirty="0">
                <a:latin typeface="Microsoft JhengHei"/>
                <a:ea typeface="Microsoft JhengHei"/>
                <a:cs typeface="+mn-lt"/>
              </a:rPr>
              <a:t>應用等讓我獲益匪淺，重新溫習程式設計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>
                <a:latin typeface="Microsoft JhengHei"/>
                <a:ea typeface="Microsoft JhengHei"/>
                <a:cs typeface="+mn-lt"/>
              </a:rPr>
              <a:t>因為剛好看到聯邦學習的paper，很開心可以應用這次AI課程有的CNN概念，所以我快速地寫出聯邦學習Framework，然後套用在容易取得的MNIST資料集看到成效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>
                <a:latin typeface="Microsoft JhengHei"/>
                <a:ea typeface="Microsoft JhengHei"/>
                <a:cs typeface="+mn-lt"/>
              </a:rPr>
              <a:t>這次學習是開心快樂的，未來期待可以用其他資料集試試看效果，畢竟不同資料集代表了不同的應用場景</a:t>
            </a:r>
            <a:endParaRPr lang="zh-TW" altLang="en-US" dirty="0">
              <a:latin typeface="Microsoft JhengHei"/>
              <a:ea typeface="Microsoft JhengHei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3845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96C8F-029D-6E57-A0E8-EF6A3A44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Microsoft JhengHei"/>
                <a:ea typeface="Microsoft JhengHei"/>
                <a:cs typeface="Times New Roman"/>
              </a:rPr>
              <a:t>Github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6515D4-DCDC-691B-1F3E-AB7833B0B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提交程式碼</a:t>
            </a:r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(python notebook)</a:t>
            </a: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與</a:t>
            </a:r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train</a:t>
            </a: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好的</a:t>
            </a:r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model</a:t>
            </a: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到</a:t>
            </a:r>
            <a:r>
              <a:rPr lang="en-US" altLang="zh-TW" dirty="0" err="1">
                <a:latin typeface="Microsoft JhengHei"/>
                <a:ea typeface="Microsoft JhengHei"/>
                <a:cs typeface="Times New Roman" panose="02020603050405020304" pitchFamily="18" charset="0"/>
              </a:rPr>
              <a:t>github</a:t>
            </a: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上</a:t>
            </a:r>
            <a:endParaRPr lang="en-US" altLang="zh-TW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en-US" sz="2000" dirty="0">
                <a:latin typeface="Microsoft JhengHei"/>
                <a:ea typeface="Microsoft JhengHei"/>
                <a:cs typeface="+mn-lt"/>
                <a:hlinkClick r:id="rId2"/>
              </a:rPr>
              <a:t>https://github.com/TsungTangLee/Federated_Learning_CNN_Framework_MNIST</a:t>
            </a:r>
            <a:endParaRPr lang="en-US" altLang="zh-TW" sz="2000" dirty="0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撰寫</a:t>
            </a:r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Readme</a:t>
            </a:r>
            <a:r>
              <a:rPr lang="zh-TW" altLang="en-US" dirty="0">
                <a:latin typeface="Microsoft JhengHei"/>
                <a:ea typeface="Microsoft JhengHei"/>
                <a:cs typeface="Times New Roman" panose="02020603050405020304" pitchFamily="18" charset="0"/>
              </a:rPr>
              <a:t>檔案</a:t>
            </a:r>
            <a:endParaRPr lang="en-US" altLang="zh-TW">
              <a:latin typeface="Microsoft JhengHei"/>
              <a:ea typeface="Microsoft JhengHei"/>
              <a:cs typeface="Times New Roman" panose="02020603050405020304" pitchFamily="18" charset="0"/>
            </a:endParaRPr>
          </a:p>
          <a:p>
            <a:pPr marL="383540" lvl="1">
              <a:buFont typeface="Wingdings" panose="05000000000000000000" pitchFamily="2" charset="2"/>
              <a:buChar char="u"/>
            </a:pPr>
            <a:r>
              <a:rPr lang="zh-TW" altLang="en-US" sz="2000">
                <a:latin typeface="Microsoft JhengHei"/>
                <a:ea typeface="Microsoft JhengHei"/>
                <a:cs typeface="Times New Roman"/>
              </a:rPr>
              <a:t>版權說明</a:t>
            </a:r>
            <a:endParaRPr lang="en-US" altLang="zh-TW" sz="2000">
              <a:latin typeface="Microsoft JhengHei"/>
              <a:ea typeface="Microsoft JhengHei"/>
              <a:cs typeface="Times New Roman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3C9D79D-9E2D-7D25-8658-40B7D82C4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914" y="3429305"/>
            <a:ext cx="8577943" cy="3402988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668459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F4360-088E-3E5D-4480-E5F68865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Reference</a:t>
            </a:r>
            <a:endParaRPr lang="zh-TW" altLang="en-US" dirty="0">
              <a:latin typeface="Microsoft JhengHei"/>
              <a:ea typeface="Microsoft JhengHei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3C822F-07E9-38E2-F504-C7B2BE54A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latin typeface="Microsoft JhengHei"/>
                <a:ea typeface="Microsoft JhengHei"/>
                <a:cs typeface="+mn-lt"/>
                <a:hlinkClick r:id="rId2"/>
              </a:rPr>
              <a:t>https://www.datacamp.com/tutorial/introduction-to-deep-neural-networks</a:t>
            </a:r>
            <a:endParaRPr lang="zh-TW" altLang="en-US">
              <a:latin typeface="Microsoft JhengHei"/>
              <a:ea typeface="Microsoft JhengHei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latin typeface="Microsoft JhengHei"/>
                <a:ea typeface="Microsoft JhengHei"/>
                <a:cs typeface="+mn-lt"/>
                <a:hlinkClick r:id="rId3"/>
              </a:rPr>
              <a:t>https://hackmd.io/@sysprog/constant-time-relu</a:t>
            </a:r>
            <a:endParaRPr lang="en-US">
              <a:latin typeface="Microsoft JhengHei"/>
              <a:ea typeface="Microsoft JhengHe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latin typeface="Microsoft JhengHei"/>
                <a:ea typeface="Microsoft JhengHei"/>
                <a:cs typeface="+mn-lt"/>
                <a:hlinkClick r:id="rId4"/>
              </a:rPr>
              <a:t>https://wenwu53.com/convolutional-neural-network-part1/</a:t>
            </a:r>
            <a:endParaRPr lang="en-US">
              <a:latin typeface="Microsoft JhengHei"/>
              <a:ea typeface="Microsoft JhengHei"/>
              <a:cs typeface="Calibri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latin typeface="Microsoft JhengHei"/>
                <a:ea typeface="Microsoft JhengHei"/>
                <a:cs typeface="+mn-lt"/>
                <a:hlinkClick r:id="rId5"/>
              </a:rPr>
              <a:t>https://medium.com/sherry-ai/%E8%81%AF%E7%9B%9F%E5%BC%8F%E5%AD%B8%E7%BF%92-federated-learning-b4cc5af7a9c0</a:t>
            </a:r>
          </a:p>
          <a:p>
            <a:pPr>
              <a:buFont typeface="Wingdings" panose="05000000000000000000" pitchFamily="2" charset="2"/>
              <a:buChar char="l"/>
            </a:pPr>
            <a:endParaRPr lang="en-US" dirty="0">
              <a:latin typeface="Calibri" panose="020F0502020204030204"/>
              <a:ea typeface="Calibri"/>
              <a:cs typeface="Calibri" panose="020F0502020204030204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Calibri" panose="020F0502020204030204"/>
              <a:ea typeface="新細明體" panose="02020500000000000000" pitchFamily="18" charset="-120"/>
              <a:cs typeface="Calibri" panose="020F0502020204030204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Calibri" panose="020F0502020204030204"/>
              <a:ea typeface="新細明體" panose="02020500000000000000" pitchFamily="18" charset="-120"/>
              <a:cs typeface="Calibri" panose="020F0502020204030204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cs typeface="Calibri" panose="020F0502020204030204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dirty="0">
              <a:cs typeface="Calibri" panose="020F0502020204030204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18237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5849828-4BB1-B196-6B39-8BD5C8130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/>
                <a:ea typeface="Microsoft JhengHei"/>
                <a:cs typeface="Times New Roman" panose="02020603050405020304" pitchFamily="18" charset="0"/>
              </a:rPr>
              <a:t>END</a:t>
            </a:r>
            <a:endParaRPr lang="zh-TW" altLang="en-US" dirty="0">
              <a:latin typeface="Microsoft JhengHei"/>
              <a:ea typeface="Microsoft JhengHei"/>
              <a:cs typeface="Times New Roman" panose="02020603050405020304" pitchFamily="18" charset="0"/>
            </a:endParaRP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E9866C65-D2C7-8119-4F13-08E7E76D49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700695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1890</TotalTime>
  <Words>1699</Words>
  <Application>Microsoft Office PowerPoint</Application>
  <PresentationFormat>寬螢幕</PresentationFormat>
  <Paragraphs>200</Paragraphs>
  <Slides>20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1" baseType="lpstr">
      <vt:lpstr>回顧</vt:lpstr>
      <vt:lpstr>聯邦學習手寫數字辨識系統 (Handwritten Digit Classification Using Federated Learning and CNN)</vt:lpstr>
      <vt:lpstr>Outline</vt:lpstr>
      <vt:lpstr>研究動機</vt:lpstr>
      <vt:lpstr>專題流程圖</vt:lpstr>
      <vt:lpstr>MNIST數字辨識資料集​</vt:lpstr>
      <vt:lpstr>卷積神經網路(CNN) </vt:lpstr>
      <vt:lpstr>卷積神經網路(CNN)​</vt:lpstr>
      <vt:lpstr>聯邦學習(Federated Learning)</vt:lpstr>
      <vt:lpstr>聯邦學習(Federated Learning)</vt:lpstr>
      <vt:lpstr>Performance(1/5)</vt:lpstr>
      <vt:lpstr>Performance(2/5)</vt:lpstr>
      <vt:lpstr>Performance(3/5)</vt:lpstr>
      <vt:lpstr>Performance(4/5)</vt:lpstr>
      <vt:lpstr>Performance(5/5)</vt:lpstr>
      <vt:lpstr>Centralized vs Federated Learning 整理表格</vt:lpstr>
      <vt:lpstr>總結</vt:lpstr>
      <vt:lpstr>心得</vt:lpstr>
      <vt:lpstr>Github</vt:lpstr>
      <vt:lpstr>Reference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宗唐 李</dc:creator>
  <cp:lastModifiedBy>宗唐 李</cp:lastModifiedBy>
  <cp:revision>1232</cp:revision>
  <dcterms:created xsi:type="dcterms:W3CDTF">2025-07-20T07:51:35Z</dcterms:created>
  <dcterms:modified xsi:type="dcterms:W3CDTF">2026-07-26T16:36:35Z</dcterms:modified>
</cp:coreProperties>
</file>